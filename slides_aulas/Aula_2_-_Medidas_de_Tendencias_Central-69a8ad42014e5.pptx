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8" r:id="rId3"/>
    <p:sldId id="313" r:id="rId4"/>
    <p:sldId id="314" r:id="rId5"/>
    <p:sldId id="310" r:id="rId6"/>
    <p:sldId id="311" r:id="rId7"/>
    <p:sldId id="354" r:id="rId8"/>
    <p:sldId id="283" r:id="rId9"/>
    <p:sldId id="279" r:id="rId10"/>
    <p:sldId id="284" r:id="rId11"/>
    <p:sldId id="285" r:id="rId12"/>
    <p:sldId id="286" r:id="rId13"/>
    <p:sldId id="287" r:id="rId14"/>
    <p:sldId id="317" r:id="rId15"/>
    <p:sldId id="318" r:id="rId16"/>
    <p:sldId id="319" r:id="rId17"/>
    <p:sldId id="293" r:id="rId18"/>
    <p:sldId id="294" r:id="rId19"/>
    <p:sldId id="320" r:id="rId20"/>
    <p:sldId id="321" r:id="rId21"/>
    <p:sldId id="322" r:id="rId22"/>
    <p:sldId id="295" r:id="rId23"/>
    <p:sldId id="323" r:id="rId24"/>
    <p:sldId id="298" r:id="rId25"/>
    <p:sldId id="324" r:id="rId26"/>
    <p:sldId id="325" r:id="rId27"/>
    <p:sldId id="326" r:id="rId28"/>
    <p:sldId id="302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08" r:id="rId37"/>
    <p:sldId id="309" r:id="rId38"/>
    <p:sldId id="334" r:id="rId39"/>
    <p:sldId id="335" r:id="rId40"/>
    <p:sldId id="262" r:id="rId41"/>
    <p:sldId id="353" r:id="rId4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5E3216-2C06-4B2A-8BDE-3D5BA5A625C3}" v="2" dt="2026-03-01T21:50:59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2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Bittencourt" userId="9399af9f441dfb25" providerId="LiveId" clId="{87FEEC51-4A4D-4000-AFF7-19B075429E2B}"/>
    <pc:docChg chg="custSel addSld delSld modSld delMainMaster">
      <pc:chgData name="Fabio Bittencourt" userId="9399af9f441dfb25" providerId="LiveId" clId="{87FEEC51-4A4D-4000-AFF7-19B075429E2B}" dt="2026-03-01T21:55:25.948" v="247" actId="20577"/>
      <pc:docMkLst>
        <pc:docMk/>
      </pc:docMkLst>
      <pc:sldChg chg="modSp mod">
        <pc:chgData name="Fabio Bittencourt" userId="9399af9f441dfb25" providerId="LiveId" clId="{87FEEC51-4A4D-4000-AFF7-19B075429E2B}" dt="2026-03-01T21:48:44.800" v="24" actId="1076"/>
        <pc:sldMkLst>
          <pc:docMk/>
          <pc:sldMk cId="1766138550" sldId="256"/>
        </pc:sldMkLst>
        <pc:spChg chg="mod">
          <ac:chgData name="Fabio Bittencourt" userId="9399af9f441dfb25" providerId="LiveId" clId="{87FEEC51-4A4D-4000-AFF7-19B075429E2B}" dt="2026-03-01T21:48:44.800" v="24" actId="1076"/>
          <ac:spMkLst>
            <pc:docMk/>
            <pc:sldMk cId="1766138550" sldId="256"/>
            <ac:spMk id="2" creationId="{00000000-0000-0000-0000-000000000000}"/>
          </ac:spMkLst>
        </pc:spChg>
      </pc:sldChg>
      <pc:sldChg chg="modSp mod">
        <pc:chgData name="Fabio Bittencourt" userId="9399af9f441dfb25" providerId="LiveId" clId="{87FEEC51-4A4D-4000-AFF7-19B075429E2B}" dt="2026-03-01T21:49:01.547" v="83" actId="20577"/>
        <pc:sldMkLst>
          <pc:docMk/>
          <pc:sldMk cId="275143622" sldId="258"/>
        </pc:sldMkLst>
        <pc:spChg chg="mod">
          <ac:chgData name="Fabio Bittencourt" userId="9399af9f441dfb25" providerId="LiveId" clId="{87FEEC51-4A4D-4000-AFF7-19B075429E2B}" dt="2026-03-01T21:49:01.547" v="83" actId="20577"/>
          <ac:spMkLst>
            <pc:docMk/>
            <pc:sldMk cId="275143622" sldId="258"/>
            <ac:spMk id="2" creationId="{45DF7A50-522E-4800-8C58-F91A738D39AB}"/>
          </ac:spMkLst>
        </pc:spChg>
      </pc:sldChg>
      <pc:sldChg chg="del">
        <pc:chgData name="Fabio Bittencourt" userId="9399af9f441dfb25" providerId="LiveId" clId="{87FEEC51-4A4D-4000-AFF7-19B075429E2B}" dt="2026-03-01T21:52:54.991" v="180" actId="47"/>
        <pc:sldMkLst>
          <pc:docMk/>
          <pc:sldMk cId="3583085708" sldId="266"/>
        </pc:sldMkLst>
      </pc:sldChg>
      <pc:sldChg chg="del">
        <pc:chgData name="Fabio Bittencourt" userId="9399af9f441dfb25" providerId="LiveId" clId="{87FEEC51-4A4D-4000-AFF7-19B075429E2B}" dt="2026-03-01T21:52:54.991" v="180" actId="47"/>
        <pc:sldMkLst>
          <pc:docMk/>
          <pc:sldMk cId="1307376030" sldId="267"/>
        </pc:sldMkLst>
      </pc:sldChg>
      <pc:sldChg chg="del">
        <pc:chgData name="Fabio Bittencourt" userId="9399af9f441dfb25" providerId="LiveId" clId="{87FEEC51-4A4D-4000-AFF7-19B075429E2B}" dt="2026-03-01T21:52:54.991" v="180" actId="47"/>
        <pc:sldMkLst>
          <pc:docMk/>
          <pc:sldMk cId="1796644123" sldId="268"/>
        </pc:sldMkLst>
      </pc:sldChg>
      <pc:sldChg chg="del">
        <pc:chgData name="Fabio Bittencourt" userId="9399af9f441dfb25" providerId="LiveId" clId="{87FEEC51-4A4D-4000-AFF7-19B075429E2B}" dt="2026-03-01T21:52:54.991" v="180" actId="47"/>
        <pc:sldMkLst>
          <pc:docMk/>
          <pc:sldMk cId="2410448578" sldId="269"/>
        </pc:sldMkLst>
      </pc:sldChg>
      <pc:sldChg chg="del">
        <pc:chgData name="Fabio Bittencourt" userId="9399af9f441dfb25" providerId="LiveId" clId="{87FEEC51-4A4D-4000-AFF7-19B075429E2B}" dt="2026-03-01T21:52:54.991" v="180" actId="47"/>
        <pc:sldMkLst>
          <pc:docMk/>
          <pc:sldMk cId="2698985537" sldId="270"/>
        </pc:sldMkLst>
      </pc:sldChg>
      <pc:sldChg chg="del">
        <pc:chgData name="Fabio Bittencourt" userId="9399af9f441dfb25" providerId="LiveId" clId="{87FEEC51-4A4D-4000-AFF7-19B075429E2B}" dt="2026-03-01T21:52:54.991" v="180" actId="47"/>
        <pc:sldMkLst>
          <pc:docMk/>
          <pc:sldMk cId="2001962705" sldId="290"/>
        </pc:sldMkLst>
      </pc:sldChg>
      <pc:sldChg chg="del">
        <pc:chgData name="Fabio Bittencourt" userId="9399af9f441dfb25" providerId="LiveId" clId="{87FEEC51-4A4D-4000-AFF7-19B075429E2B}" dt="2026-03-01T21:52:54.991" v="180" actId="47"/>
        <pc:sldMkLst>
          <pc:docMk/>
          <pc:sldMk cId="3409161292" sldId="291"/>
        </pc:sldMkLst>
      </pc:sldChg>
      <pc:sldChg chg="del">
        <pc:chgData name="Fabio Bittencourt" userId="9399af9f441dfb25" providerId="LiveId" clId="{87FEEC51-4A4D-4000-AFF7-19B075429E2B}" dt="2026-03-01T21:52:54.991" v="180" actId="47"/>
        <pc:sldMkLst>
          <pc:docMk/>
          <pc:sldMk cId="600712224" sldId="292"/>
        </pc:sldMkLst>
      </pc:sldChg>
      <pc:sldChg chg="del">
        <pc:chgData name="Fabio Bittencourt" userId="9399af9f441dfb25" providerId="LiveId" clId="{87FEEC51-4A4D-4000-AFF7-19B075429E2B}" dt="2026-03-01T21:52:54.991" v="180" actId="47"/>
        <pc:sldMkLst>
          <pc:docMk/>
          <pc:sldMk cId="4049757699" sldId="299"/>
        </pc:sldMkLst>
      </pc:sldChg>
      <pc:sldChg chg="del">
        <pc:chgData name="Fabio Bittencourt" userId="9399af9f441dfb25" providerId="LiveId" clId="{87FEEC51-4A4D-4000-AFF7-19B075429E2B}" dt="2026-03-01T21:52:54.991" v="180" actId="47"/>
        <pc:sldMkLst>
          <pc:docMk/>
          <pc:sldMk cId="1236323290" sldId="300"/>
        </pc:sldMkLst>
      </pc:sldChg>
      <pc:sldChg chg="del">
        <pc:chgData name="Fabio Bittencourt" userId="9399af9f441dfb25" providerId="LiveId" clId="{87FEEC51-4A4D-4000-AFF7-19B075429E2B}" dt="2026-03-01T21:52:54.991" v="180" actId="47"/>
        <pc:sldMkLst>
          <pc:docMk/>
          <pc:sldMk cId="911504370" sldId="301"/>
        </pc:sldMkLst>
      </pc:sldChg>
      <pc:sldChg chg="del">
        <pc:chgData name="Fabio Bittencourt" userId="9399af9f441dfb25" providerId="LiveId" clId="{87FEEC51-4A4D-4000-AFF7-19B075429E2B}" dt="2026-03-01T21:52:54.991" v="180" actId="47"/>
        <pc:sldMkLst>
          <pc:docMk/>
          <pc:sldMk cId="1623513197" sldId="304"/>
        </pc:sldMkLst>
      </pc:sldChg>
      <pc:sldChg chg="del">
        <pc:chgData name="Fabio Bittencourt" userId="9399af9f441dfb25" providerId="LiveId" clId="{87FEEC51-4A4D-4000-AFF7-19B075429E2B}" dt="2026-03-01T21:52:54.991" v="180" actId="47"/>
        <pc:sldMkLst>
          <pc:docMk/>
          <pc:sldMk cId="3354858320" sldId="305"/>
        </pc:sldMkLst>
      </pc:sldChg>
      <pc:sldChg chg="modSp mod">
        <pc:chgData name="Fabio Bittencourt" userId="9399af9f441dfb25" providerId="LiveId" clId="{87FEEC51-4A4D-4000-AFF7-19B075429E2B}" dt="2026-03-01T21:52:09.092" v="179" actId="20577"/>
        <pc:sldMkLst>
          <pc:docMk/>
          <pc:sldMk cId="2762194379" sldId="310"/>
        </pc:sldMkLst>
        <pc:spChg chg="mod">
          <ac:chgData name="Fabio Bittencourt" userId="9399af9f441dfb25" providerId="LiveId" clId="{87FEEC51-4A4D-4000-AFF7-19B075429E2B}" dt="2026-03-01T21:52:09.092" v="179" actId="20577"/>
          <ac:spMkLst>
            <pc:docMk/>
            <pc:sldMk cId="2762194379" sldId="310"/>
            <ac:spMk id="6" creationId="{8A0BAE10-A955-4236-9445-F72EEE14E523}"/>
          </ac:spMkLst>
        </pc:spChg>
      </pc:sldChg>
      <pc:sldChg chg="del">
        <pc:chgData name="Fabio Bittencourt" userId="9399af9f441dfb25" providerId="LiveId" clId="{87FEEC51-4A4D-4000-AFF7-19B075429E2B}" dt="2026-03-01T21:52:54.991" v="180" actId="47"/>
        <pc:sldMkLst>
          <pc:docMk/>
          <pc:sldMk cId="3638084498" sldId="312"/>
        </pc:sldMkLst>
      </pc:sldChg>
      <pc:sldChg chg="modSp mod">
        <pc:chgData name="Fabio Bittencourt" userId="9399af9f441dfb25" providerId="LiveId" clId="{87FEEC51-4A4D-4000-AFF7-19B075429E2B}" dt="2026-03-01T21:49:20.551" v="109" actId="20577"/>
        <pc:sldMkLst>
          <pc:docMk/>
          <pc:sldMk cId="2603841785" sldId="313"/>
        </pc:sldMkLst>
        <pc:spChg chg="mod">
          <ac:chgData name="Fabio Bittencourt" userId="9399af9f441dfb25" providerId="LiveId" clId="{87FEEC51-4A4D-4000-AFF7-19B075429E2B}" dt="2026-03-01T21:49:20.551" v="109" actId="20577"/>
          <ac:spMkLst>
            <pc:docMk/>
            <pc:sldMk cId="2603841785" sldId="313"/>
            <ac:spMk id="9" creationId="{00000000-0000-0000-0000-000000000000}"/>
          </ac:spMkLst>
        </pc:spChg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871548759" sldId="315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561287824" sldId="316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2924335306" sldId="336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74557014" sldId="337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3442836887" sldId="338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269525243" sldId="339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549479492" sldId="340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2522138004" sldId="341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632114479" sldId="342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2887932512" sldId="344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2112138212" sldId="345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3991070401" sldId="346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2563202198" sldId="347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1827449756" sldId="348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3066703435" sldId="349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2259577138" sldId="350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2281946840" sldId="351"/>
        </pc:sldMkLst>
      </pc:sldChg>
      <pc:sldChg chg="del">
        <pc:chgData name="Fabio Bittencourt" userId="9399af9f441dfb25" providerId="LiveId" clId="{87FEEC51-4A4D-4000-AFF7-19B075429E2B}" dt="2026-03-01T21:53:38.514" v="181" actId="47"/>
        <pc:sldMkLst>
          <pc:docMk/>
          <pc:sldMk cId="758967179" sldId="352"/>
        </pc:sldMkLst>
      </pc:sldChg>
      <pc:sldChg chg="modSp add mod">
        <pc:chgData name="Fabio Bittencourt" userId="9399af9f441dfb25" providerId="LiveId" clId="{87FEEC51-4A4D-4000-AFF7-19B075429E2B}" dt="2026-03-01T21:55:25.948" v="247" actId="20577"/>
        <pc:sldMkLst>
          <pc:docMk/>
          <pc:sldMk cId="4200517347" sldId="354"/>
        </pc:sldMkLst>
        <pc:spChg chg="mod">
          <ac:chgData name="Fabio Bittencourt" userId="9399af9f441dfb25" providerId="LiveId" clId="{87FEEC51-4A4D-4000-AFF7-19B075429E2B}" dt="2026-03-01T21:55:11.677" v="214" actId="20577"/>
          <ac:spMkLst>
            <pc:docMk/>
            <pc:sldMk cId="4200517347" sldId="354"/>
            <ac:spMk id="4" creationId="{E95AE87A-54FE-C237-CFCC-DC8FF118902A}"/>
          </ac:spMkLst>
        </pc:spChg>
        <pc:spChg chg="mod">
          <ac:chgData name="Fabio Bittencourt" userId="9399af9f441dfb25" providerId="LiveId" clId="{87FEEC51-4A4D-4000-AFF7-19B075429E2B}" dt="2026-03-01T21:55:25.948" v="247" actId="20577"/>
          <ac:spMkLst>
            <pc:docMk/>
            <pc:sldMk cId="4200517347" sldId="354"/>
            <ac:spMk id="6" creationId="{9AB286AF-E3D7-1877-827C-4EA212930CA0}"/>
          </ac:spMkLst>
        </pc:spChg>
      </pc:sldChg>
      <pc:sldMasterChg chg="del delSldLayout">
        <pc:chgData name="Fabio Bittencourt" userId="9399af9f441dfb25" providerId="LiveId" clId="{87FEEC51-4A4D-4000-AFF7-19B075429E2B}" dt="2026-03-01T21:52:54.991" v="180" actId="47"/>
        <pc:sldMasterMkLst>
          <pc:docMk/>
          <pc:sldMasterMk cId="4091236653" sldId="2147483664"/>
        </pc:sldMasterMkLst>
        <pc:sldLayoutChg chg="del">
          <pc:chgData name="Fabio Bittencourt" userId="9399af9f441dfb25" providerId="LiveId" clId="{87FEEC51-4A4D-4000-AFF7-19B075429E2B}" dt="2026-03-01T21:52:54.991" v="180" actId="47"/>
          <pc:sldLayoutMkLst>
            <pc:docMk/>
            <pc:sldMasterMk cId="4091236653" sldId="2147483664"/>
            <pc:sldLayoutMk cId="4260462204" sldId="2147483665"/>
          </pc:sldLayoutMkLst>
        </pc:sldLayoutChg>
        <pc:sldLayoutChg chg="del">
          <pc:chgData name="Fabio Bittencourt" userId="9399af9f441dfb25" providerId="LiveId" clId="{87FEEC51-4A4D-4000-AFF7-19B075429E2B}" dt="2026-03-01T21:52:54.991" v="180" actId="47"/>
          <pc:sldLayoutMkLst>
            <pc:docMk/>
            <pc:sldMasterMk cId="4091236653" sldId="2147483664"/>
            <pc:sldLayoutMk cId="1361389093" sldId="2147483666"/>
          </pc:sldLayoutMkLst>
        </pc:sldLayoutChg>
        <pc:sldLayoutChg chg="del">
          <pc:chgData name="Fabio Bittencourt" userId="9399af9f441dfb25" providerId="LiveId" clId="{87FEEC51-4A4D-4000-AFF7-19B075429E2B}" dt="2026-03-01T21:52:54.991" v="180" actId="47"/>
          <pc:sldLayoutMkLst>
            <pc:docMk/>
            <pc:sldMasterMk cId="4091236653" sldId="2147483664"/>
            <pc:sldLayoutMk cId="3522542462" sldId="2147483667"/>
          </pc:sldLayoutMkLst>
        </pc:sldLayoutChg>
        <pc:sldLayoutChg chg="del">
          <pc:chgData name="Fabio Bittencourt" userId="9399af9f441dfb25" providerId="LiveId" clId="{87FEEC51-4A4D-4000-AFF7-19B075429E2B}" dt="2026-03-01T21:52:54.991" v="180" actId="47"/>
          <pc:sldLayoutMkLst>
            <pc:docMk/>
            <pc:sldMasterMk cId="4091236653" sldId="2147483664"/>
            <pc:sldLayoutMk cId="2818773861" sldId="2147483668"/>
          </pc:sldLayoutMkLst>
        </pc:sldLayoutChg>
        <pc:sldLayoutChg chg="del">
          <pc:chgData name="Fabio Bittencourt" userId="9399af9f441dfb25" providerId="LiveId" clId="{87FEEC51-4A4D-4000-AFF7-19B075429E2B}" dt="2026-03-01T21:52:54.991" v="180" actId="47"/>
          <pc:sldLayoutMkLst>
            <pc:docMk/>
            <pc:sldMasterMk cId="4091236653" sldId="2147483664"/>
            <pc:sldLayoutMk cId="4225513266" sldId="2147483669"/>
          </pc:sldLayoutMkLst>
        </pc:sldLayoutChg>
        <pc:sldLayoutChg chg="del">
          <pc:chgData name="Fabio Bittencourt" userId="9399af9f441dfb25" providerId="LiveId" clId="{87FEEC51-4A4D-4000-AFF7-19B075429E2B}" dt="2026-03-01T21:52:54.991" v="180" actId="47"/>
          <pc:sldLayoutMkLst>
            <pc:docMk/>
            <pc:sldMasterMk cId="4091236653" sldId="2147483664"/>
            <pc:sldLayoutMk cId="758191359" sldId="2147483670"/>
          </pc:sldLayoutMkLst>
        </pc:sldLayoutChg>
        <pc:sldLayoutChg chg="del">
          <pc:chgData name="Fabio Bittencourt" userId="9399af9f441dfb25" providerId="LiveId" clId="{87FEEC51-4A4D-4000-AFF7-19B075429E2B}" dt="2026-03-01T21:52:54.991" v="180" actId="47"/>
          <pc:sldLayoutMkLst>
            <pc:docMk/>
            <pc:sldMasterMk cId="4091236653" sldId="2147483664"/>
            <pc:sldLayoutMk cId="320426221" sldId="2147483671"/>
          </pc:sldLayoutMkLst>
        </pc:sldLayoutChg>
        <pc:sldLayoutChg chg="del">
          <pc:chgData name="Fabio Bittencourt" userId="9399af9f441dfb25" providerId="LiveId" clId="{87FEEC51-4A4D-4000-AFF7-19B075429E2B}" dt="2026-03-01T21:52:54.991" v="180" actId="47"/>
          <pc:sldLayoutMkLst>
            <pc:docMk/>
            <pc:sldMasterMk cId="4091236653" sldId="2147483664"/>
            <pc:sldLayoutMk cId="999701917" sldId="2147483672"/>
          </pc:sldLayoutMkLst>
        </pc:sldLayoutChg>
        <pc:sldLayoutChg chg="del">
          <pc:chgData name="Fabio Bittencourt" userId="9399af9f441dfb25" providerId="LiveId" clId="{87FEEC51-4A4D-4000-AFF7-19B075429E2B}" dt="2026-03-01T21:52:54.991" v="180" actId="47"/>
          <pc:sldLayoutMkLst>
            <pc:docMk/>
            <pc:sldMasterMk cId="4091236653" sldId="2147483664"/>
            <pc:sldLayoutMk cId="4260546373" sldId="2147483673"/>
          </pc:sldLayoutMkLst>
        </pc:sldLayoutChg>
        <pc:sldLayoutChg chg="del">
          <pc:chgData name="Fabio Bittencourt" userId="9399af9f441dfb25" providerId="LiveId" clId="{87FEEC51-4A4D-4000-AFF7-19B075429E2B}" dt="2026-03-01T21:52:54.991" v="180" actId="47"/>
          <pc:sldLayoutMkLst>
            <pc:docMk/>
            <pc:sldMasterMk cId="4091236653" sldId="2147483664"/>
            <pc:sldLayoutMk cId="1255862559" sldId="2147483674"/>
          </pc:sldLayoutMkLst>
        </pc:sldLayoutChg>
        <pc:sldLayoutChg chg="del">
          <pc:chgData name="Fabio Bittencourt" userId="9399af9f441dfb25" providerId="LiveId" clId="{87FEEC51-4A4D-4000-AFF7-19B075429E2B}" dt="2026-03-01T21:52:54.991" v="180" actId="47"/>
          <pc:sldLayoutMkLst>
            <pc:docMk/>
            <pc:sldMasterMk cId="4091236653" sldId="2147483664"/>
            <pc:sldLayoutMk cId="2811156573" sldId="2147483675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Planilha1!$A$1:$A$16</c:f>
              <c:numCache>
                <c:formatCode>General</c:formatCode>
                <c:ptCount val="16"/>
                <c:pt idx="0">
                  <c:v>2</c:v>
                </c:pt>
                <c:pt idx="1">
                  <c:v>1000</c:v>
                </c:pt>
                <c:pt idx="2">
                  <c:v>2</c:v>
                </c:pt>
                <c:pt idx="3">
                  <c:v>1000</c:v>
                </c:pt>
                <c:pt idx="4">
                  <c:v>2</c:v>
                </c:pt>
                <c:pt idx="5">
                  <c:v>1000</c:v>
                </c:pt>
                <c:pt idx="6">
                  <c:v>2</c:v>
                </c:pt>
                <c:pt idx="7">
                  <c:v>1000</c:v>
                </c:pt>
                <c:pt idx="8">
                  <c:v>2</c:v>
                </c:pt>
                <c:pt idx="9">
                  <c:v>1000</c:v>
                </c:pt>
                <c:pt idx="10">
                  <c:v>2</c:v>
                </c:pt>
                <c:pt idx="11">
                  <c:v>1000</c:v>
                </c:pt>
                <c:pt idx="12">
                  <c:v>2</c:v>
                </c:pt>
                <c:pt idx="13">
                  <c:v>1000</c:v>
                </c:pt>
                <c:pt idx="14">
                  <c:v>2</c:v>
                </c:pt>
                <c:pt idx="15">
                  <c:v>1000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66-404F-B3FC-1A0DBCD47E03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Planilha1!$B$1:$B$16</c:f>
              <c:numCache>
                <c:formatCode>General</c:formatCode>
                <c:ptCount val="16"/>
                <c:pt idx="0">
                  <c:v>501</c:v>
                </c:pt>
                <c:pt idx="1">
                  <c:v>501</c:v>
                </c:pt>
                <c:pt idx="2">
                  <c:v>501</c:v>
                </c:pt>
                <c:pt idx="3">
                  <c:v>501</c:v>
                </c:pt>
                <c:pt idx="4">
                  <c:v>501</c:v>
                </c:pt>
                <c:pt idx="5">
                  <c:v>501</c:v>
                </c:pt>
                <c:pt idx="6">
                  <c:v>501</c:v>
                </c:pt>
                <c:pt idx="7">
                  <c:v>501</c:v>
                </c:pt>
                <c:pt idx="8">
                  <c:v>501</c:v>
                </c:pt>
                <c:pt idx="9">
                  <c:v>501</c:v>
                </c:pt>
                <c:pt idx="10">
                  <c:v>501</c:v>
                </c:pt>
                <c:pt idx="11">
                  <c:v>501</c:v>
                </c:pt>
                <c:pt idx="12">
                  <c:v>501</c:v>
                </c:pt>
                <c:pt idx="13">
                  <c:v>501</c:v>
                </c:pt>
                <c:pt idx="14">
                  <c:v>501</c:v>
                </c:pt>
                <c:pt idx="15">
                  <c:v>501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66-404F-B3FC-1A0DBCD47E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69056168"/>
        <c:axId val="569056496"/>
      </c:lineChart>
      <c:catAx>
        <c:axId val="56905616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056496"/>
        <c:crosses val="autoZero"/>
        <c:auto val="1"/>
        <c:lblAlgn val="ctr"/>
        <c:lblOffset val="100"/>
        <c:noMultiLvlLbl val="0"/>
      </c:catAx>
      <c:valAx>
        <c:axId val="569056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056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ED787-ECF9-4317-9B3F-01368C487912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9BCC3-7EAB-4662-B118-F1D740721A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53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46253" y="2678805"/>
            <a:ext cx="5808371" cy="831157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522658" y="4845969"/>
            <a:ext cx="6553229" cy="476226"/>
          </a:xfrm>
        </p:spPr>
        <p:txBody>
          <a:bodyPr>
            <a:normAutofit/>
          </a:bodyPr>
          <a:lstStyle>
            <a:lvl1pPr marL="0" indent="0" algn="r">
              <a:buNone/>
              <a:defRPr sz="4000">
                <a:solidFill>
                  <a:srgbClr val="003958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Professor</a:t>
            </a:r>
          </a:p>
        </p:txBody>
      </p:sp>
    </p:spTree>
    <p:extLst>
      <p:ext uri="{BB962C8B-B14F-4D97-AF65-F5344CB8AC3E}">
        <p14:creationId xmlns:p14="http://schemas.microsoft.com/office/powerpoint/2010/main" val="182442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4050" y="4554895"/>
            <a:ext cx="8762236" cy="2121676"/>
          </a:xfrm>
        </p:spPr>
        <p:txBody>
          <a:bodyPr>
            <a:normAutofit/>
          </a:bodyPr>
          <a:lstStyle>
            <a:lvl1pPr>
              <a:defRPr sz="6000" b="1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Assunto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5265" y="0"/>
            <a:ext cx="5715000" cy="395287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3950" y="0"/>
            <a:ext cx="3448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6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1880057"/>
            <a:ext cx="10356483" cy="4491713"/>
          </a:xfrm>
        </p:spPr>
        <p:txBody>
          <a:bodyPr/>
          <a:lstStyle>
            <a:lvl1pPr marL="0" indent="0">
              <a:buNone/>
              <a:defRPr sz="2400" u="none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Digite aqui</a:t>
            </a:r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235674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Text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487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0383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Texto 2"/>
          <p:cNvSpPr>
            <a:spLocks noGrp="1"/>
          </p:cNvSpPr>
          <p:nvPr>
            <p:ph type="body" idx="14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3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29635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30A3B-2335-431B-A4F7-7B8BD9E5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80D06D-97B9-4B75-851D-17389329A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915DB4-4809-4B8E-897E-549BEC583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C009-E659-4C5E-A085-389C3F5E6976}" type="datetime1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154262-8C63-4521-8A2C-678716B3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E63663-9A1C-4989-96D6-7DFB5AE5A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9003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6BF57-4B4C-490B-A6E3-54A944D4D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3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0" r:id="rId5"/>
    <p:sldLayoutId id="2147483661" r:id="rId6"/>
    <p:sldLayoutId id="2147483663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fabio.bittencourt@satc.edu.br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conda.com/products/individual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67516" y="3234987"/>
            <a:ext cx="5808371" cy="831157"/>
          </a:xfrm>
        </p:spPr>
        <p:txBody>
          <a:bodyPr>
            <a:normAutofit fontScale="90000"/>
          </a:bodyPr>
          <a:lstStyle/>
          <a:p>
            <a:r>
              <a:rPr lang="pt-BR" dirty="0"/>
              <a:t>Estatística Aplicada – Aula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Prof. Fábio de Bittencourt</a:t>
            </a:r>
          </a:p>
        </p:txBody>
      </p:sp>
    </p:spTree>
    <p:extLst>
      <p:ext uri="{BB962C8B-B14F-4D97-AF65-F5344CB8AC3E}">
        <p14:creationId xmlns:p14="http://schemas.microsoft.com/office/powerpoint/2010/main" val="1766138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F7A50-522E-4800-8C58-F91A738D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Apresentação</a:t>
            </a:r>
            <a:r>
              <a:rPr lang="en-US" dirty="0"/>
              <a:t> da </a:t>
            </a:r>
            <a:r>
              <a:rPr lang="en-US" dirty="0" err="1"/>
              <a:t>Disciplina</a:t>
            </a:r>
            <a:r>
              <a:rPr lang="en-US" dirty="0"/>
              <a:t>/</a:t>
            </a:r>
            <a:br>
              <a:rPr lang="en-US" dirty="0"/>
            </a:br>
            <a:r>
              <a:rPr lang="en-US" dirty="0" err="1"/>
              <a:t>Medidas</a:t>
            </a:r>
            <a:r>
              <a:rPr lang="en-US" dirty="0"/>
              <a:t> de </a:t>
            </a:r>
            <a:r>
              <a:rPr lang="en-US" dirty="0" err="1"/>
              <a:t>Tendência</a:t>
            </a:r>
            <a:r>
              <a:rPr lang="en-US" dirty="0"/>
              <a:t> Central</a:t>
            </a:r>
          </a:p>
        </p:txBody>
      </p:sp>
    </p:spTree>
    <p:extLst>
      <p:ext uri="{BB962C8B-B14F-4D97-AF65-F5344CB8AC3E}">
        <p14:creationId xmlns:p14="http://schemas.microsoft.com/office/powerpoint/2010/main" val="275143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Recados e Apresentações	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963344" y="1494840"/>
            <a:ext cx="109369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Olá Pessoal, sejam todos bem vindos à mais um semestre e sejam todos bem vindos à aula de Estatística Aplicada, matéria que iremos debater durante os encontros das terças-feiras.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Para quem não me conhece meu chamo Fábio de Bittencourt, meu e-mail é </a:t>
            </a:r>
            <a:r>
              <a:rPr lang="pt-BR" dirty="0">
                <a:solidFill>
                  <a:srgbClr val="003958"/>
                </a:solidFill>
                <a:hlinkClick r:id="rId4"/>
              </a:rPr>
              <a:t>fabio.bittencourt@satc.edu.br</a:t>
            </a:r>
            <a:r>
              <a:rPr lang="pt-BR" dirty="0">
                <a:solidFill>
                  <a:srgbClr val="003958"/>
                </a:solidFill>
              </a:rPr>
              <a:t>, e sempre que vocês precisarem por favor me contatem pelo e-mail;</a:t>
            </a:r>
          </a:p>
          <a:p>
            <a:endParaRPr lang="pt-BR" dirty="0">
              <a:solidFill>
                <a:srgbClr val="00395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Sempre que tivermos entregas durante o semestre, essa entrega deve ser feita por e-mail, no e-mail do professor;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Os intervalos da Engenharia de Computação será sempre 20:15, durando até 20:25;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Quem por ventura não estiver na primeira chamada perde as duas primeiras aulas e consecutivamente, quem não estiver na segunda chamada perde as duas últimas aulas.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841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FC88B-B440-64BF-4CEC-1F5F88E2D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1C46F9E6-8CB1-3F45-35C9-C785F47F6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6C6E168-35E5-F3EE-0CC3-B41D3A1C6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21AFF2E-0A3C-8DB6-DBEC-396045803524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Recados e Apresentações	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F1A7FED-01D2-E563-880C-12AA15E77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A45A509-39DE-EEB4-57C7-41F24CCC9913}"/>
              </a:ext>
            </a:extLst>
          </p:cNvPr>
          <p:cNvSpPr txBox="1"/>
          <p:nvPr/>
        </p:nvSpPr>
        <p:spPr>
          <a:xfrm>
            <a:off x="963344" y="1494840"/>
            <a:ext cx="109369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Um tema polêmico!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043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Avaliações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Ao longo da disciplina teremos as seguintes avaliações:</a:t>
            </a:r>
          </a:p>
          <a:p>
            <a:endParaRPr lang="pt-BR" sz="2200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1ª Nota – Trabalho em Grupo Prático – 18/03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2ª Nota – Elaboração do Projeto de Extensão – 10/06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3ª Nota – Avaliação Teórica– 24/06</a:t>
            </a:r>
          </a:p>
        </p:txBody>
      </p:sp>
    </p:spTree>
    <p:extLst>
      <p:ext uri="{BB962C8B-B14F-4D97-AF65-F5344CB8AC3E}">
        <p14:creationId xmlns:p14="http://schemas.microsoft.com/office/powerpoint/2010/main" val="2762194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Avaliações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Iremos utilizar o </a:t>
            </a:r>
            <a:r>
              <a:rPr lang="pt-BR" sz="2200" dirty="0" err="1">
                <a:solidFill>
                  <a:srgbClr val="003958"/>
                </a:solidFill>
              </a:rPr>
              <a:t>Jupyter</a:t>
            </a:r>
            <a:r>
              <a:rPr lang="pt-BR" sz="2200" dirty="0">
                <a:solidFill>
                  <a:srgbClr val="003958"/>
                </a:solidFill>
              </a:rPr>
              <a:t> (como IDE) e o Python (como Linguagem);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Serão muito usados também arquivos .</a:t>
            </a:r>
            <a:r>
              <a:rPr lang="pt-BR" sz="2200" dirty="0" err="1">
                <a:solidFill>
                  <a:srgbClr val="003958"/>
                </a:solidFill>
              </a:rPr>
              <a:t>csv</a:t>
            </a:r>
            <a:r>
              <a:rPr lang="pt-BR" sz="2200" dirty="0">
                <a:solidFill>
                  <a:srgbClr val="003958"/>
                </a:solidFill>
              </a:rPr>
              <a:t> como fonte de dados para que seja mais tranquilo a manipulação dos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Para realizar a instalação, vocês podem acessar o link: </a:t>
            </a:r>
            <a:r>
              <a:rPr lang="pt-BR" sz="2200" dirty="0">
                <a:hlinkClick r:id="rId2"/>
              </a:rPr>
              <a:t>https://www.anaconda.com/products/individual</a:t>
            </a:r>
            <a:endParaRPr lang="pt-BR" sz="2200" dirty="0"/>
          </a:p>
          <a:p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Vamos então à leitura do plano de ensino.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103929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A783D-1761-5CE9-C8D1-1717473AE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5AE87A-54FE-C237-CFCC-DC8FF118902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Desafio da Aula Anterior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9AB286AF-E3D7-1877-827C-4EA212930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Vamos então ao desafio da </a:t>
            </a:r>
            <a:r>
              <a:rPr lang="pt-BR" sz="2200">
                <a:solidFill>
                  <a:srgbClr val="003958"/>
                </a:solidFill>
              </a:rPr>
              <a:t>aula anterior.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4200517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F7A50-522E-4800-8C58-F91A738D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Estatística Aplicada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290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Estatística Aplicada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Montgomery (2004) em seu livro Estatística Aplicada a Engenharia descreve que: “Engenheiros resolvem problemas de interesse da sociedade pela aplicação eficiente de princípios científicos”.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 campo da estatística lida com a coleta, a apresentação, a análise e o uso de dados para tomar decisões e resolver problemas.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Métodos estatísticos são usados para nos ajudar a entender a </a:t>
            </a:r>
            <a:r>
              <a:rPr lang="pt-BR" sz="2200" b="1" dirty="0">
                <a:solidFill>
                  <a:srgbClr val="003958"/>
                </a:solidFill>
              </a:rPr>
              <a:t>variabilidade</a:t>
            </a:r>
            <a:r>
              <a:rPr lang="pt-BR" sz="2200" dirty="0">
                <a:solidFill>
                  <a:srgbClr val="003958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Todos nós encontramos variabilidade em nosso dia-a-dia e o julgamento estatístico pode nos dar uma maneira útil para incorporar essa variabilidade em nossos processos de tomada de decisão.</a:t>
            </a:r>
          </a:p>
        </p:txBody>
      </p:sp>
    </p:spTree>
    <p:extLst>
      <p:ext uri="{BB962C8B-B14F-4D97-AF65-F5344CB8AC3E}">
        <p14:creationId xmlns:p14="http://schemas.microsoft.com/office/powerpoint/2010/main" val="2822495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Estatística Aplicada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Exemplo: Considere o desempenho de seu carro em relação ao consumo de gasolina.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Você sempre consegue o mesmo desempenho de consumo em cada tanque de combustível? Provavelmente Não.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por que não ? Bom, seguindo nosso exemplo, porque diversos fatores podem influenciar no consumo do carro: A estrada, o tempo, o tipo de solo e até a calibragem dos pneus.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1742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Estatística Aplicada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 causa da variabilidade exibida pelas medidas, consideramos que dentro daquela observação estatística temos uma variável aleatória.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Uma maneira bem simples de representar a influência de uma variável aleatória dentro de uma medição estatística seria através de uma equação de primeiro grau, tal qual o exemplo abaixo: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Consumo = 9,0 + X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                                                       Consumo             Variabilidade</a:t>
            </a:r>
            <a:br>
              <a:rPr lang="pt-BR" sz="2200" dirty="0">
                <a:solidFill>
                  <a:srgbClr val="003958"/>
                </a:solidFill>
              </a:rPr>
            </a:br>
            <a:r>
              <a:rPr lang="pt-BR" sz="2200" dirty="0">
                <a:solidFill>
                  <a:srgbClr val="003958"/>
                </a:solidFill>
              </a:rPr>
              <a:t>				       Fixo 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1956C64F-681A-46EB-9B29-AA81A1085000}"/>
              </a:ext>
            </a:extLst>
          </p:cNvPr>
          <p:cNvCxnSpPr>
            <a:cxnSpLocks/>
          </p:cNvCxnSpPr>
          <p:nvPr/>
        </p:nvCxnSpPr>
        <p:spPr>
          <a:xfrm flipV="1">
            <a:off x="5792015" y="4851862"/>
            <a:ext cx="656706" cy="523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8F2A93DF-4ABF-455A-B838-EEB7624F4A07}"/>
              </a:ext>
            </a:extLst>
          </p:cNvPr>
          <p:cNvCxnSpPr>
            <a:cxnSpLocks/>
          </p:cNvCxnSpPr>
          <p:nvPr/>
        </p:nvCxnSpPr>
        <p:spPr>
          <a:xfrm flipH="1" flipV="1">
            <a:off x="7124008" y="4851862"/>
            <a:ext cx="83127" cy="489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741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Estatística Aplicada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Portanto se num momento hipotético nós analisarmos, coletarmos e documentarmos vários consumos diferentes de combustível ao longo de um determinado tempo, nós teremos dados suficientes para compará-los e verificarmos se a nossa fórmula para o cálculo está correta.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quanto temos essa situação, podemos utilizar artifícios gráficos para que possamos ter acesso à uma decisão de uma maneira mais fácil.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Uma das maneiras mais fáceis para vermos essa questão é através de um </a:t>
            </a:r>
            <a:r>
              <a:rPr lang="pt-BR" sz="2200" b="1" dirty="0">
                <a:solidFill>
                  <a:srgbClr val="003958"/>
                </a:solidFill>
              </a:rPr>
              <a:t>diagrama de pontos (dispersão)</a:t>
            </a:r>
            <a:r>
              <a:rPr lang="pt-BR" sz="2200" dirty="0">
                <a:solidFill>
                  <a:srgbClr val="003958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5310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Estatística Aplicada</a:t>
            </a:r>
            <a:endParaRPr lang="en-US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A394891-09ED-41DD-AF32-C2D0F48C0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936" y="1953493"/>
            <a:ext cx="8175950" cy="377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62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dos Dados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Quando falamos de variáveis quantitativas, os conjuntos de dados possuem medidas estatísticas que podem nos auxiliar a tomar decisões básicas sobre um comportamento ou uma tendência sobre os dados que possuímos;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 partir desse momento vamos chamar essas medidas de características dos seus conjuntos de dados e vamos falar sobre as características mais básicas da estatística;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 característica mais básica de um conjunto de dados é a sua média. Porém estatisticamente o seu uso é mais raro, apesar de que no dia-a-dia é comum que utilizemos a média para parâmetros, como notas de escola ou até decisões estratégicas.</a:t>
            </a:r>
          </a:p>
        </p:txBody>
      </p:sp>
    </p:spTree>
    <p:extLst>
      <p:ext uri="{BB962C8B-B14F-4D97-AF65-F5344CB8AC3E}">
        <p14:creationId xmlns:p14="http://schemas.microsoft.com/office/powerpoint/2010/main" val="999035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dos Dados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 seu uso é raro no planejamento de experimentos porque a média pode esconder grandes alterações entre as observações;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Num exemplo hipotético, em um observação que sempre repete o padrão valor 1000 no tempo X e 2 no tempo Y e assim sucessivamente, traria ao seu observador uma média 501, que é muito longe de qualquer observação que ele vai ter ao longo do seu experimento.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132C1EB5-218A-402D-AC28-F3C3C882142F}"/>
              </a:ext>
            </a:extLst>
          </p:cNvPr>
          <p:cNvGraphicFramePr>
            <a:graphicFrameLocks/>
          </p:cNvGraphicFramePr>
          <p:nvPr/>
        </p:nvGraphicFramePr>
        <p:xfrm>
          <a:off x="3842137" y="4598111"/>
          <a:ext cx="4161905" cy="204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34575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dos Dados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Isso porque a média é um valor calculado, que pode não existir dentro da sua distribuição, um outro exemplo são as próprias notas de classe, é muito provável que a sua média não seja igual a nenhuma das notas que você tenha tirado ao longo do semestre;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Portanto, se o seu objetivo é identificar como um fenômeno se comporta que sentido faz utilizar um recurso matemático, cujo o resultado irá retornar um valor que existe uma probabilidade alta de não acontecer;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Talvez seja novidade para alguns, mas mesmo a média pode se subdividida, temos a média aritmética, a média ponderada, a média geométrica, entre outras.</a:t>
            </a:r>
          </a:p>
        </p:txBody>
      </p:sp>
    </p:spTree>
    <p:extLst>
      <p:ext uri="{BB962C8B-B14F-4D97-AF65-F5344CB8AC3E}">
        <p14:creationId xmlns:p14="http://schemas.microsoft.com/office/powerpoint/2010/main" val="2798011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dos Dados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Uma outra característica de dados muito importante é a </a:t>
            </a:r>
            <a:r>
              <a:rPr lang="pt-BR" sz="2200" b="1" dirty="0">
                <a:solidFill>
                  <a:srgbClr val="003958"/>
                </a:solidFill>
              </a:rPr>
              <a:t>Mediana</a:t>
            </a:r>
            <a:r>
              <a:rPr lang="pt-BR" sz="2200" dirty="0">
                <a:solidFill>
                  <a:srgbClr val="003958"/>
                </a:solidFill>
              </a:rPr>
              <a:t>. Que, segundo a literatura, é a medida de tendência central, que divide os dados em duas partes iguais, metade abaixo da mediana e metade acima.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 seu cálculo é bem simples: No conjunto de dados conta-se a quantidade de registros apresentados, e caso a quantidade seja impar, pega-se exatamente o registro que divide o conjunto no meio para a ser a mediana: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 err="1">
                <a:solidFill>
                  <a:srgbClr val="003958"/>
                </a:solidFill>
              </a:rPr>
              <a:t>Ex</a:t>
            </a:r>
            <a:r>
              <a:rPr lang="pt-BR" sz="2200" dirty="0">
                <a:solidFill>
                  <a:srgbClr val="003958"/>
                </a:solidFill>
              </a:rPr>
              <a:t>: 45 Registros, a mediana será o registro de número 23. Pois assim teremos 22 dois registros para um lado e para o outro.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No caso do conjunto de dados possuir uma quantidade par, pega-se o número do registro que corresponde a metade do conjunto e o registro superior para calcular a mediana.</a:t>
            </a:r>
          </a:p>
        </p:txBody>
      </p:sp>
    </p:spTree>
    <p:extLst>
      <p:ext uri="{BB962C8B-B14F-4D97-AF65-F5344CB8AC3E}">
        <p14:creationId xmlns:p14="http://schemas.microsoft.com/office/powerpoint/2010/main" val="1863113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dos Dados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Com esses dois registros selecionados, eles são somados e divididos por 2, o resultado então é a mediana do conjunto.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 err="1">
                <a:solidFill>
                  <a:srgbClr val="003958"/>
                </a:solidFill>
              </a:rPr>
              <a:t>Ex</a:t>
            </a:r>
            <a:r>
              <a:rPr lang="pt-BR" sz="2200" dirty="0">
                <a:solidFill>
                  <a:srgbClr val="003958"/>
                </a:solidFill>
              </a:rPr>
              <a:t>: Um conjunto com 44 registros, o registro de número 22 e 23 serão somados e divididos por dois, o seu resultado será a mediana do conjunto.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Aqui pode parecer um contrassenso apontar que para achar a mediana, calcule-se a média de algo, sendo que falamos que a média pode nos levar à decisões erradas;</a:t>
            </a:r>
          </a:p>
          <a:p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Porém, para o cálculo da mediana (e de todas as medidas estatísticas que veremos ao longo dessa aula), se faz necessário que os dados numéricos da distribuição sejam ordenados em ordem crescente.</a:t>
            </a:r>
          </a:p>
        </p:txBody>
      </p:sp>
    </p:spTree>
    <p:extLst>
      <p:ext uri="{BB962C8B-B14F-4D97-AF65-F5344CB8AC3E}">
        <p14:creationId xmlns:p14="http://schemas.microsoft.com/office/powerpoint/2010/main" val="452535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dos Dados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880057"/>
            <a:ext cx="8246835" cy="44917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Isso nos mostrará que mesmo utilizando uma média entre dois valores, nesse caso, o cálculo da media nos traz muito mais próximo da realidade da nossa distribuição, que é o nosso principal foco.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Vejamos o seguinte exemplo ao lado, temos uma distribuição de 20 números que estão aparentemente desordenados;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 sua média é 65.45, o que se a gente olhar atentamente para a distribuição podemos ver que ela não se relaciona muito com os dados;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Porém agora vamos calcular a sua mediana.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AAA09CD0-D296-488F-9B73-75DBC43B55E4}"/>
              </a:ext>
            </a:extLst>
          </p:cNvPr>
          <p:cNvGraphicFramePr>
            <a:graphicFrameLocks noGrp="1"/>
          </p:cNvGraphicFramePr>
          <p:nvPr/>
        </p:nvGraphicFramePr>
        <p:xfrm>
          <a:off x="9501446" y="1880057"/>
          <a:ext cx="609600" cy="4000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65607396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130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6325135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031048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</a:rPr>
                        <a:t>300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199377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</a:rPr>
                        <a:t>32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589438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2299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518104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0739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343167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56481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630428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2618061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323768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473926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9037608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069425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392799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132202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651299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50069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</a:rPr>
                        <a:t>49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49176654"/>
                  </a:ext>
                </a:extLst>
              </a:tr>
            </a:tbl>
          </a:graphicData>
        </a:graphic>
      </p:graphicFrame>
      <p:sp>
        <p:nvSpPr>
          <p:cNvPr id="7" name="Retângulo 6">
            <a:extLst>
              <a:ext uri="{FF2B5EF4-FFF2-40B4-BE49-F238E27FC236}">
                <a16:creationId xmlns:a16="http://schemas.microsoft.com/office/drawing/2014/main" id="{AD691CB3-1946-4888-88FF-2F6A0D98488A}"/>
              </a:ext>
            </a:extLst>
          </p:cNvPr>
          <p:cNvSpPr/>
          <p:nvPr/>
        </p:nvSpPr>
        <p:spPr>
          <a:xfrm>
            <a:off x="10367837" y="1812876"/>
            <a:ext cx="839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958"/>
                </a:solidFill>
                <a:latin typeface="Calibri" panose="020F0502020204030204" pitchFamily="34" charset="0"/>
              </a:rPr>
              <a:t>65.45</a:t>
            </a:r>
          </a:p>
          <a:p>
            <a:r>
              <a:rPr lang="en-US" dirty="0" err="1">
                <a:solidFill>
                  <a:srgbClr val="003958"/>
                </a:solidFill>
                <a:latin typeface="Calibri" panose="020F0502020204030204" pitchFamily="34" charset="0"/>
              </a:rPr>
              <a:t>Média</a:t>
            </a:r>
            <a:r>
              <a:rPr lang="en-US" dirty="0">
                <a:solidFill>
                  <a:srgbClr val="003958"/>
                </a:solidFill>
              </a:rPr>
              <a:t> </a:t>
            </a:r>
            <a:endParaRPr lang="pt-BR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107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dos Dados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1880057"/>
            <a:ext cx="5264150" cy="4703623"/>
          </a:xfrm>
        </p:spPr>
        <p:txBody>
          <a:bodyPr>
            <a:normAutofit fontScale="2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8800" dirty="0">
                <a:solidFill>
                  <a:srgbClr val="003958"/>
                </a:solidFill>
              </a:rPr>
              <a:t>Ordenamos nosso dado, só nessa situação já conseguimos visualizar um padrão;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88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8800" dirty="0">
                <a:solidFill>
                  <a:srgbClr val="003958"/>
                </a:solidFill>
              </a:rPr>
              <a:t>8 dos nossos 20 casos ficam entre valores de 43 e 53, o que nos dá 40% de chance que, se estivermos em processo de repetição, no futuro teremos o mesmo padrão;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88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8800" dirty="0">
                <a:solidFill>
                  <a:srgbClr val="003958"/>
                </a:solidFill>
              </a:rPr>
              <a:t>Voltemos a mediana, no caso pegamos os 10º e 11º valores da distribuição (49, 50) e calculamos o seu valor;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88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8800" dirty="0">
                <a:solidFill>
                  <a:srgbClr val="003958"/>
                </a:solidFill>
              </a:rPr>
              <a:t>Agora eu lhes pergunto quais das duas características está mais próxima da realidade da distribuição?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AAA09CD0-D296-488F-9B73-75DBC43B55E4}"/>
              </a:ext>
            </a:extLst>
          </p:cNvPr>
          <p:cNvGraphicFramePr>
            <a:graphicFrameLocks noGrp="1"/>
          </p:cNvGraphicFramePr>
          <p:nvPr/>
        </p:nvGraphicFramePr>
        <p:xfrm>
          <a:off x="6555970" y="1880057"/>
          <a:ext cx="609600" cy="4000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65607396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130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6325135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031048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</a:rPr>
                        <a:t>300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199377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589438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2299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518104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0739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343167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56481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630428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2618061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323768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473926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9037608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069425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392799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132202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651299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50069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</a:rPr>
                        <a:t>49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49176654"/>
                  </a:ext>
                </a:extLst>
              </a:tr>
            </a:tbl>
          </a:graphicData>
        </a:graphic>
      </p:graphicFrame>
      <p:sp>
        <p:nvSpPr>
          <p:cNvPr id="7" name="Retângulo 6">
            <a:extLst>
              <a:ext uri="{FF2B5EF4-FFF2-40B4-BE49-F238E27FC236}">
                <a16:creationId xmlns:a16="http://schemas.microsoft.com/office/drawing/2014/main" id="{AD691CB3-1946-4888-88FF-2F6A0D98488A}"/>
              </a:ext>
            </a:extLst>
          </p:cNvPr>
          <p:cNvSpPr/>
          <p:nvPr/>
        </p:nvSpPr>
        <p:spPr>
          <a:xfrm>
            <a:off x="7531331" y="1971497"/>
            <a:ext cx="839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958"/>
                </a:solidFill>
                <a:latin typeface="Calibri" panose="020F0502020204030204" pitchFamily="34" charset="0"/>
              </a:rPr>
              <a:t>65.45</a:t>
            </a:r>
          </a:p>
          <a:p>
            <a:r>
              <a:rPr lang="en-US" dirty="0" err="1">
                <a:solidFill>
                  <a:srgbClr val="003958"/>
                </a:solidFill>
                <a:latin typeface="Calibri" panose="020F0502020204030204" pitchFamily="34" charset="0"/>
              </a:rPr>
              <a:t>Média</a:t>
            </a:r>
            <a:r>
              <a:rPr lang="en-US" dirty="0">
                <a:solidFill>
                  <a:srgbClr val="003958"/>
                </a:solidFill>
              </a:rPr>
              <a:t> </a:t>
            </a:r>
            <a:endParaRPr lang="pt-BR" dirty="0">
              <a:solidFill>
                <a:srgbClr val="003958"/>
              </a:solidFill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920F0E5-DC78-47E6-928F-B2819217FF3C}"/>
              </a:ext>
            </a:extLst>
          </p:cNvPr>
          <p:cNvGraphicFramePr>
            <a:graphicFrameLocks noGrp="1"/>
          </p:cNvGraphicFramePr>
          <p:nvPr/>
        </p:nvGraphicFramePr>
        <p:xfrm>
          <a:off x="8592589" y="1880057"/>
          <a:ext cx="609600" cy="4000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40110448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4006127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3471512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3385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0405785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3573903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028466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</a:rPr>
                        <a:t>43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259345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</a:rPr>
                        <a:t>46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8497449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</a:rPr>
                        <a:t>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1383104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</a:rPr>
                        <a:t>49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0998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</a:rPr>
                        <a:t>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209287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</a:rPr>
                        <a:t>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42343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</a:rPr>
                        <a:t>52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477792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</a:rPr>
                        <a:t>53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608015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1855278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4959664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540072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130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9565865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>
                          <a:effectLst/>
                        </a:rPr>
                        <a:t>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259852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</a:rPr>
                        <a:t>300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88916489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2A9D67C5-B4B7-49D2-98ED-D5CA81C626ED}"/>
              </a:ext>
            </a:extLst>
          </p:cNvPr>
          <p:cNvSpPr/>
          <p:nvPr/>
        </p:nvSpPr>
        <p:spPr>
          <a:xfrm>
            <a:off x="9614187" y="2037999"/>
            <a:ext cx="10150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3958"/>
                </a:solidFill>
                <a:latin typeface="Calibri" panose="020F0502020204030204" pitchFamily="34" charset="0"/>
              </a:rPr>
              <a:t>49.5</a:t>
            </a:r>
            <a:r>
              <a:rPr lang="en-US" dirty="0">
                <a:solidFill>
                  <a:srgbClr val="003958"/>
                </a:solidFill>
              </a:rPr>
              <a:t> </a:t>
            </a:r>
          </a:p>
          <a:p>
            <a:r>
              <a:rPr lang="en-US" dirty="0" err="1">
                <a:solidFill>
                  <a:srgbClr val="003958"/>
                </a:solidFill>
              </a:rPr>
              <a:t>Mediana</a:t>
            </a:r>
            <a:endParaRPr lang="pt-BR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584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dos Dados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Ok, já sabemos que entre a média e a mediana, já saberíamos dizer o que mais nos seria útil se a gente fosse tentar encontrar uma característica para tentar emular futuros comportamentos do nosso fenômeno;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Uma outra característica bem básica do conjunto de dados é a </a:t>
            </a:r>
            <a:r>
              <a:rPr lang="pt-BR" sz="2200" b="1" dirty="0">
                <a:solidFill>
                  <a:srgbClr val="003958"/>
                </a:solidFill>
              </a:rPr>
              <a:t>moda</a:t>
            </a:r>
            <a:r>
              <a:rPr lang="pt-BR" sz="2200" dirty="0">
                <a:solidFill>
                  <a:srgbClr val="003958"/>
                </a:solidFill>
              </a:rPr>
              <a:t>, que pode ser representada com o termo que aparece o maior número de vezes dentro do conjunto de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Apesar da semelhança entre moda, mediana e média, a apresentação desses valores podem variar consideravelmente dependendo do conjunto de dados. Vejamos o exemplo a seguir.</a:t>
            </a:r>
          </a:p>
        </p:txBody>
      </p:sp>
    </p:spTree>
    <p:extLst>
      <p:ext uri="{BB962C8B-B14F-4D97-AF65-F5344CB8AC3E}">
        <p14:creationId xmlns:p14="http://schemas.microsoft.com/office/powerpoint/2010/main" val="1568263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dos Dados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1880057"/>
            <a:ext cx="5264150" cy="4491713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003958"/>
                </a:solidFill>
              </a:rPr>
              <a:t>Dado o conjunto ao lado, calcule: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900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003958"/>
                </a:solidFill>
              </a:rPr>
              <a:t>A média (Aritmética);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003958"/>
                </a:solidFill>
              </a:rPr>
              <a:t>52,2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003958"/>
                </a:solidFill>
              </a:rPr>
              <a:t>A moda;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003958"/>
                </a:solidFill>
              </a:rPr>
              <a:t>32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003958"/>
                </a:solidFill>
              </a:rPr>
              <a:t>A mediana;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003958"/>
                </a:solidFill>
              </a:rPr>
              <a:t>51.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pt-BR" sz="29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003958"/>
                </a:solidFill>
              </a:rPr>
              <a:t>Apesar de ser as vezes bem sedutora a ideia de calibrar um modelo simplesmente ao utilizar o número que mais ocorre;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9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003958"/>
                </a:solidFill>
              </a:rPr>
              <a:t>Podemos ver pelo exemplo que nem sempre, isso é o mais correto a ser utilizado.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89F7EF3-1552-48C9-A894-399D2499A81C}"/>
              </a:ext>
            </a:extLst>
          </p:cNvPr>
          <p:cNvGraphicFramePr>
            <a:graphicFrameLocks noGrp="1"/>
          </p:cNvGraphicFramePr>
          <p:nvPr/>
        </p:nvGraphicFramePr>
        <p:xfrm>
          <a:off x="7423265" y="1880057"/>
          <a:ext cx="1596044" cy="4200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6044">
                  <a:extLst>
                    <a:ext uri="{9D8B030D-6E8A-4147-A177-3AD203B41FA5}">
                      <a16:colId xmlns:a16="http://schemas.microsoft.com/office/drawing/2014/main" val="2819417203"/>
                    </a:ext>
                  </a:extLst>
                </a:gridCol>
              </a:tblGrid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43143386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1939589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7079881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77330885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09291845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9131223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94201965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48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0751410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64032349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9634324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6035501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37315718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29847876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5296753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7778545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86952843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4808481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6191202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71224823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90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49144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180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dos Dados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Principalmente quando estamos analisando um fenômeno que tem uma alta variabilidade, a utilização da moda ao invés de uma outra medida estatística pode levar você à decisões bem erradas, como a gente viu no exemplo;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 outro lado, em situações em que a repetição é a regra e não à exceção, o uso da moda pode ajudar mais do que as outras medidas;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Isso só será possível através da analise do </a:t>
            </a:r>
            <a:r>
              <a:rPr lang="pt-BR" sz="2200" b="1" dirty="0">
                <a:solidFill>
                  <a:srgbClr val="003958"/>
                </a:solidFill>
              </a:rPr>
              <a:t>contexto</a:t>
            </a:r>
            <a:r>
              <a:rPr lang="pt-BR" sz="2200" dirty="0">
                <a:solidFill>
                  <a:srgbClr val="003958"/>
                </a:solidFill>
              </a:rPr>
              <a:t>, sabendo o que você está observando e identificando os seus padrões.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8283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dos Dados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Uma outra característica dos dados que é importante mencionar é a </a:t>
            </a:r>
            <a:r>
              <a:rPr lang="pt-BR" sz="2200" b="1" dirty="0">
                <a:solidFill>
                  <a:srgbClr val="003958"/>
                </a:solidFill>
              </a:rPr>
              <a:t>Amplitude</a:t>
            </a:r>
            <a:r>
              <a:rPr lang="pt-BR" sz="2200" dirty="0">
                <a:solidFill>
                  <a:srgbClr val="003958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Ela é medida a partir da subtração do maior termo pelo menor termo.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 err="1">
                <a:solidFill>
                  <a:srgbClr val="003958"/>
                </a:solidFill>
              </a:rPr>
              <a:t>Ex</a:t>
            </a:r>
            <a:r>
              <a:rPr lang="pt-BR" sz="2200" dirty="0">
                <a:solidFill>
                  <a:srgbClr val="003958"/>
                </a:solidFill>
              </a:rPr>
              <a:t>: Considerando o nosso conjunto anterior </a:t>
            </a:r>
            <a:r>
              <a:rPr lang="pt-BR" sz="2200" dirty="0" err="1">
                <a:solidFill>
                  <a:srgbClr val="003958"/>
                </a:solidFill>
              </a:rPr>
              <a:t>Amp</a:t>
            </a:r>
            <a:r>
              <a:rPr lang="pt-BR" sz="2200" dirty="0">
                <a:solidFill>
                  <a:srgbClr val="003958"/>
                </a:solidFill>
              </a:rPr>
              <a:t> = 90 – 20 = 70.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 amplitude é considerada estatisticamente como uma medida de dispersão, logo elas são aplicadas para entender o grau de variação do conjunto de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Podemos além disso, dividir os conjuntos de dados em mais de duas partes, como fizemos lá trás com a mediana.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9542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dos Dados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Podemos dividir os dados em quatro partes, sendo que os seus pontos de divisão são o que denominamos como </a:t>
            </a:r>
            <a:r>
              <a:rPr lang="pt-BR" sz="2200" b="1" dirty="0">
                <a:solidFill>
                  <a:srgbClr val="003958"/>
                </a:solidFill>
              </a:rPr>
              <a:t>quartis</a:t>
            </a:r>
            <a:r>
              <a:rPr lang="pt-BR" sz="2200" dirty="0">
                <a:solidFill>
                  <a:srgbClr val="003958"/>
                </a:solidFill>
              </a:rPr>
              <a:t>, o cálculo dos quartis é feito da seguinte forma.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1º Quartil =  1º Elemento até o Elemento Q1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Onde Q1 é calculado através da fórmula: (N + 1)/4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2º Quartil = Elemento Q1 até Elemento Q2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Onde Q2 é a própria mediana.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3º Quartil = Elemento Q2 até Elemento Q3.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Onde Q3 é calculado através da fórmula: 3*(N+1)/4</a:t>
            </a:r>
          </a:p>
          <a:p>
            <a:endParaRPr lang="pt-B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15011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dos Dados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 primeiro quartil é o que denominamos de quartil inferior e representa até 25% do seu conjunto de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Já o terceiro quartil é o que denominamos de quartil superior e representa até 75% do seu conjunto de dados.</a:t>
            </a:r>
          </a:p>
          <a:p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É importante ressaltar que para realizar o cálculo dos quartis, o dados precisam estar ordenados de forma ascendente, antes de se tentar qualquer cálculo ou análise.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Façamos então os quartis para o conjunto exemplo mostrado anteriormente.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74312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dos Dados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1880057"/>
            <a:ext cx="5264150" cy="4491713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Q1: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3958"/>
                </a:solidFill>
              </a:rPr>
              <a:t>N = 20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3958"/>
                </a:solidFill>
              </a:rPr>
              <a:t>Q1 = 20 + 1 / 4 = 5.25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3958"/>
                </a:solidFill>
              </a:rPr>
              <a:t>Q1 = 5º Elemento (39).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Q2: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3958"/>
                </a:solidFill>
              </a:rPr>
              <a:t>Q2 = Mediana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3958"/>
                </a:solidFill>
              </a:rPr>
              <a:t>Q2 = 51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Q3: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3958"/>
                </a:solidFill>
              </a:rPr>
              <a:t>Q3 = 3 (20 + 1) / 4 = 15.75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3958"/>
                </a:solidFill>
              </a:rPr>
              <a:t>Q3 = 16º Elemento (64).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Q4: Q3 = 3 (20 + 1) / 4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85D6B52-45C9-43D6-98FE-E9043477BB6E}"/>
              </a:ext>
            </a:extLst>
          </p:cNvPr>
          <p:cNvGraphicFramePr>
            <a:graphicFrameLocks noGrp="1"/>
          </p:cNvGraphicFramePr>
          <p:nvPr/>
        </p:nvGraphicFramePr>
        <p:xfrm>
          <a:off x="8194963" y="1880057"/>
          <a:ext cx="1596044" cy="4200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6044">
                  <a:extLst>
                    <a:ext uri="{9D8B030D-6E8A-4147-A177-3AD203B41FA5}">
                      <a16:colId xmlns:a16="http://schemas.microsoft.com/office/drawing/2014/main" val="2584843805"/>
                    </a:ext>
                  </a:extLst>
                </a:gridCol>
              </a:tblGrid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68168515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31236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0510220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5203002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39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9225661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5599782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77339336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897577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49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8986893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5592836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9382328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68608524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62609888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57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98656758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63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938373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64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1941444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2028670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38005421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24108932"/>
                  </a:ext>
                </a:extLst>
              </a:tr>
              <a:tr h="21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90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04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7599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dos Dados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Uma outra característica muito importante é </a:t>
            </a:r>
            <a:r>
              <a:rPr lang="pt-BR" sz="2200" b="1" dirty="0">
                <a:solidFill>
                  <a:srgbClr val="003958"/>
                </a:solidFill>
              </a:rPr>
              <a:t>amplitude interquartil</a:t>
            </a:r>
            <a:r>
              <a:rPr lang="pt-BR" sz="2200" dirty="0">
                <a:solidFill>
                  <a:srgbClr val="003958"/>
                </a:solidFill>
              </a:rPr>
              <a:t>, que pode ser calculada pela subtração do terceiro quartil pelo primeiro quartil.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 amplitude interquartil é principalmente utilizada no gráfico de </a:t>
            </a:r>
            <a:r>
              <a:rPr lang="pt-BR" sz="2200" i="1" dirty="0" err="1">
                <a:solidFill>
                  <a:srgbClr val="003958"/>
                </a:solidFill>
              </a:rPr>
              <a:t>boxplot</a:t>
            </a:r>
            <a:r>
              <a:rPr lang="pt-BR" sz="2200" i="1" dirty="0">
                <a:solidFill>
                  <a:srgbClr val="003958"/>
                </a:solidFill>
              </a:rPr>
              <a:t>, </a:t>
            </a:r>
            <a:r>
              <a:rPr lang="pt-BR" sz="2200" dirty="0">
                <a:solidFill>
                  <a:srgbClr val="003958"/>
                </a:solidFill>
              </a:rPr>
              <a:t>que veremos adiante.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Além disso, podemos subdividir nosso conjunto de dados em mais pedaços do que apenas quatro.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Para isso temos os </a:t>
            </a:r>
            <a:r>
              <a:rPr lang="pt-BR" sz="2200" b="1" dirty="0" err="1">
                <a:solidFill>
                  <a:srgbClr val="003958"/>
                </a:solidFill>
              </a:rPr>
              <a:t>centis</a:t>
            </a:r>
            <a:r>
              <a:rPr lang="pt-BR" sz="2200" dirty="0">
                <a:solidFill>
                  <a:srgbClr val="003958"/>
                </a:solidFill>
              </a:rPr>
              <a:t>, que divide o nosso conjunto em 100 partes, os </a:t>
            </a:r>
            <a:r>
              <a:rPr lang="pt-BR" sz="2200" b="1" dirty="0" err="1">
                <a:solidFill>
                  <a:srgbClr val="003958"/>
                </a:solidFill>
              </a:rPr>
              <a:t>decis</a:t>
            </a:r>
            <a:r>
              <a:rPr lang="pt-BR" sz="2200" dirty="0">
                <a:solidFill>
                  <a:srgbClr val="003958"/>
                </a:solidFill>
              </a:rPr>
              <a:t>, que divide o nosso conjunto em 10 partes. Mas aqui não será nosso foco.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71565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Gráficos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Um gráfico muito importante para analisarmos o comportamento da nossa distribuição, temos o </a:t>
            </a:r>
            <a:r>
              <a:rPr lang="pt-BR" sz="2200" b="1" dirty="0">
                <a:solidFill>
                  <a:srgbClr val="003958"/>
                </a:solidFill>
              </a:rPr>
              <a:t>diagrama de caixa</a:t>
            </a:r>
            <a:r>
              <a:rPr lang="pt-BR" sz="2200" dirty="0">
                <a:solidFill>
                  <a:srgbClr val="003958"/>
                </a:solidFill>
              </a:rPr>
              <a:t>, que pode ser chamado de </a:t>
            </a:r>
            <a:r>
              <a:rPr lang="pt-BR" sz="2200" i="1" dirty="0" err="1">
                <a:solidFill>
                  <a:srgbClr val="003958"/>
                </a:solidFill>
              </a:rPr>
              <a:t>boxplot</a:t>
            </a:r>
            <a:r>
              <a:rPr lang="pt-BR" sz="2200" dirty="0">
                <a:solidFill>
                  <a:srgbClr val="003958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 diagrama de caixa é uma apresentação gráfica que descreve simultaneamente várias características importantes de um conjunto de dados, tais como centro, dispersão, desvio da simetria e observação de outliers.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BA5E233-C0E2-4813-9195-D1E5538C6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257" y="4395623"/>
            <a:ext cx="5745913" cy="210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373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Gráficos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Um ponto além das linhas de limite, porém em um limite de até 3 amplitudes interquartis (portanto acima de 1,5 e até 3 amplitudes interquartis) é chamado de </a:t>
            </a:r>
            <a:r>
              <a:rPr lang="pt-BR" sz="2200" b="1" dirty="0">
                <a:solidFill>
                  <a:srgbClr val="003958"/>
                </a:solidFill>
              </a:rPr>
              <a:t>outlier</a:t>
            </a:r>
            <a:r>
              <a:rPr lang="pt-BR" sz="2200" dirty="0">
                <a:solidFill>
                  <a:srgbClr val="003958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caso ainda sim, tivermos pontos acima desse limite, ou seja pontos acima de 3 amplitudes interquartis, damos o nome de </a:t>
            </a:r>
            <a:r>
              <a:rPr lang="pt-BR" sz="2200" b="1" dirty="0">
                <a:solidFill>
                  <a:srgbClr val="003958"/>
                </a:solidFill>
              </a:rPr>
              <a:t>outlier extremo</a:t>
            </a:r>
            <a:r>
              <a:rPr lang="pt-BR" sz="2200" dirty="0">
                <a:solidFill>
                  <a:srgbClr val="003958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Com base então no que foi apresentado, vamos representar graficamente o conjunto de dados apresentado no gráfico </a:t>
            </a:r>
            <a:r>
              <a:rPr lang="pt-BR" sz="2200" dirty="0" err="1">
                <a:solidFill>
                  <a:srgbClr val="003958"/>
                </a:solidFill>
              </a:rPr>
              <a:t>boxplot</a:t>
            </a:r>
            <a:r>
              <a:rPr lang="pt-BR" sz="2200" dirty="0">
                <a:solidFill>
                  <a:srgbClr val="003958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Vimos a </a:t>
            </a:r>
            <a:r>
              <a:rPr lang="pt-BR" sz="2200" b="1" dirty="0">
                <a:solidFill>
                  <a:srgbClr val="003958"/>
                </a:solidFill>
              </a:rPr>
              <a:t>Amplitude</a:t>
            </a:r>
            <a:r>
              <a:rPr lang="pt-BR" sz="2200" dirty="0">
                <a:solidFill>
                  <a:srgbClr val="003958"/>
                </a:solidFill>
              </a:rPr>
              <a:t>, e relembramos que ela se trata de uma medida de dispersão, ou seja, que ajuda ao usuário entender o grau de variabilidade de um determinado conjunto de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7168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Estatística Aplicada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Porém, existem duas outras medidas de dispersão, que são mais usadas no contexto estatístico, são elas: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Variância;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Desvio Padrão.</a:t>
            </a:r>
          </a:p>
          <a:p>
            <a:pPr lvl="1"/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Ambas as medidas são utilizadas para medir a mesma coisa: O quanto as medidas do conjunto de dados se afastam da média aritmética. Porém uma acaba sendo meio que interpretada como uma evolução da outra.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Começaremos pela </a:t>
            </a:r>
            <a:r>
              <a:rPr lang="pt-BR" b="1" dirty="0">
                <a:solidFill>
                  <a:srgbClr val="003958"/>
                </a:solidFill>
              </a:rPr>
              <a:t>variância</a:t>
            </a:r>
            <a:r>
              <a:rPr lang="pt-BR" dirty="0">
                <a:solidFill>
                  <a:srgbClr val="003958"/>
                </a:solidFill>
              </a:rPr>
              <a:t>. É uma medida mais básica nesse contexto que conversamos. A fórmula para o cálculo da variância pode ser escrita com a fórmula a seguir.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600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66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19"/>
    </mc:Choice>
    <mc:Fallback xmlns="">
      <p:transition spd="slow" advTm="62619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Estatística Aplicada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Onde: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 – Variância.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n – Número de registros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Xi – Registro de índice 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 err="1">
                <a:solidFill>
                  <a:srgbClr val="003958"/>
                </a:solidFill>
              </a:rPr>
              <a:t>Ma</a:t>
            </a:r>
            <a:r>
              <a:rPr lang="pt-BR" sz="2200" dirty="0">
                <a:solidFill>
                  <a:srgbClr val="003958"/>
                </a:solidFill>
              </a:rPr>
              <a:t> – Media aritmética.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Então vejamos, ainda utilizando o conjunto anterior, calcularemos a variância.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Conjunto: [20, 32, 32, 36, 39, 43, 46, 48, 49, 50, 52, 53, 56, 57, 63, 64, 65, 74, 75, 90]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826195-76FD-410B-B1B9-449C265C4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560" y="2352675"/>
            <a:ext cx="3228975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1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072"/>
    </mc:Choice>
    <mc:Fallback xmlns="">
      <p:transition spd="slow" advTm="396072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Estatística Aplicada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Quanto maior for a variância, mais distante os pontos do conjunto de dados estão da média. O mesmo acontece com o inverso, quanto menor a variância, mais próximos serão os dados da sua média.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Não existe uma escala de variância, o que pode ser considerado muito alto ou muito baixo e isso vai variar sempre do conjunto de dados. E o seu conhecimento sobre os dados (contexto), vai fazer a diferença quando formos determinar o que é uma variância alta ou baixa.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No nosso resultado, tivemos uma variância de 266.36, o que alinhado com o nosso conhecimento dados, podemos caracterizar como alta, pois no nosso conjunto temos muitos pontos longe da média do conjunto.</a:t>
            </a:r>
          </a:p>
        </p:txBody>
      </p:sp>
    </p:spTree>
    <p:extLst>
      <p:ext uri="{BB962C8B-B14F-4D97-AF65-F5344CB8AC3E}">
        <p14:creationId xmlns:p14="http://schemas.microsoft.com/office/powerpoint/2010/main" val="168368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834"/>
    </mc:Choice>
    <mc:Fallback xmlns="">
      <p:transition spd="slow" advTm="95834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Estatística Aplicada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Porém, temos uma deficiência na variância que pode nos atrapalhar quando estamos realizando alguma análise estatística.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Como as diferenças entre o valor representado e a média é elevada ao quadrado, os pontos mais longe da média acabam por elevar de forma as vezes tendenciosa a variância.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Isso pode ser perigoso, principalmente quando temos outliers extremos, comprometendo então as nossas decisões.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ai é que entra o </a:t>
            </a:r>
            <a:r>
              <a:rPr lang="pt-BR" sz="2200" b="1" dirty="0">
                <a:solidFill>
                  <a:srgbClr val="003958"/>
                </a:solidFill>
              </a:rPr>
              <a:t>desvio padrão</a:t>
            </a:r>
            <a:r>
              <a:rPr lang="pt-BR" sz="2200" dirty="0">
                <a:solidFill>
                  <a:srgbClr val="003958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518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Estatística Aplicada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 desvio padrão é uma medida que indica o quando o conjunto de dados é uniforme, considerando o quanto os dados se afastam da sua média.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Sendo assim, a fórmula para o cálculo do desvio padrão é a seguinte: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Basicamente, o cálculo do desvio padrão é a raiz quadrada da variância. Vamos ao cálculo então.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Conjunto: [20, 32, 32, 36, 39, 43, 46, 48, 49, 50, 52, 53, 56, 57, 63, 64, 65, 74, 75, 90]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C8CC8B3-1995-437E-AE20-F01C09A61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675" y="3627033"/>
            <a:ext cx="371475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76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712"/>
    </mc:Choice>
    <mc:Fallback xmlns="">
      <p:transition spd="slow" advTm="294712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Exercícios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200" dirty="0">
                <a:solidFill>
                  <a:srgbClr val="003958"/>
                </a:solidFill>
              </a:rPr>
              <a:t>Considere o seguinte conjunto:</a:t>
            </a:r>
          </a:p>
          <a:p>
            <a:r>
              <a:rPr lang="pt-BR" sz="2200" dirty="0">
                <a:solidFill>
                  <a:srgbClr val="003958"/>
                </a:solidFill>
              </a:rPr>
              <a:t>{15; 17; 21; 25; 25; 29; 33; 35}</a:t>
            </a:r>
          </a:p>
          <a:p>
            <a:r>
              <a:rPr lang="pt-BR" sz="2200" dirty="0">
                <a:solidFill>
                  <a:srgbClr val="003958"/>
                </a:solidFill>
              </a:rPr>
              <a:t>A média, a mediana e a moda desse conjunto de dados são, respectivamente:</a:t>
            </a:r>
          </a:p>
          <a:p>
            <a:endParaRPr lang="pt-BR" sz="2200" dirty="0">
              <a:solidFill>
                <a:srgbClr val="003958"/>
              </a:solidFill>
            </a:endParaRPr>
          </a:p>
          <a:p>
            <a:pPr marL="457200" indent="-457200">
              <a:buAutoNum type="alphaLcParenR"/>
            </a:pPr>
            <a:r>
              <a:rPr lang="pt-BR" sz="2200" dirty="0">
                <a:solidFill>
                  <a:srgbClr val="003958"/>
                </a:solidFill>
              </a:rPr>
              <a:t>1, 2 e 3</a:t>
            </a:r>
          </a:p>
          <a:p>
            <a:pPr marL="457200" indent="-457200">
              <a:buAutoNum type="alphaLcParenR"/>
            </a:pPr>
            <a:r>
              <a:rPr lang="pt-BR" sz="2200" dirty="0">
                <a:solidFill>
                  <a:srgbClr val="003958"/>
                </a:solidFill>
              </a:rPr>
              <a:t>5, 7 e 9</a:t>
            </a:r>
          </a:p>
          <a:p>
            <a:pPr marL="457200" indent="-457200">
              <a:buAutoNum type="alphaLcParenR"/>
            </a:pPr>
            <a:r>
              <a:rPr lang="pt-BR" sz="2200" dirty="0">
                <a:solidFill>
                  <a:srgbClr val="003958"/>
                </a:solidFill>
              </a:rPr>
              <a:t>7, 9 e 5</a:t>
            </a:r>
          </a:p>
          <a:p>
            <a:pPr marL="457200" indent="-457200">
              <a:buAutoNum type="alphaLcParenR"/>
            </a:pPr>
            <a:r>
              <a:rPr lang="pt-BR" sz="2200" dirty="0">
                <a:solidFill>
                  <a:srgbClr val="003958"/>
                </a:solidFill>
              </a:rPr>
              <a:t>25, 25 e 25</a:t>
            </a:r>
          </a:p>
          <a:p>
            <a:pPr marL="457200" indent="-457200">
              <a:buAutoNum type="alphaLcParenR"/>
            </a:pPr>
            <a:r>
              <a:rPr lang="pt-BR" sz="2200" dirty="0">
                <a:solidFill>
                  <a:srgbClr val="003958"/>
                </a:solidFill>
              </a:rPr>
              <a:t>25, 27 e 29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64105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Exercícios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pt-BR" sz="2200" dirty="0">
                <a:solidFill>
                  <a:srgbClr val="003958"/>
                </a:solidFill>
              </a:rPr>
              <a:t>A tabela de dados brutos a seguir reporta o número de linhas telefônicas por mil habitantes em cada estado do Brasil, em 2001.</a:t>
            </a:r>
          </a:p>
          <a:p>
            <a:endParaRPr lang="pt-BR" sz="2200" dirty="0">
              <a:solidFill>
                <a:srgbClr val="003958"/>
              </a:solidFill>
            </a:endParaRPr>
          </a:p>
          <a:p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Com base nesses dados:</a:t>
            </a:r>
          </a:p>
          <a:p>
            <a:r>
              <a:rPr lang="pt-BR" sz="2200" dirty="0">
                <a:solidFill>
                  <a:srgbClr val="003958"/>
                </a:solidFill>
              </a:rPr>
              <a:t>a) Determine seus quartis;</a:t>
            </a:r>
          </a:p>
          <a:p>
            <a:r>
              <a:rPr lang="pt-BR" sz="2200" dirty="0">
                <a:solidFill>
                  <a:srgbClr val="003958"/>
                </a:solidFill>
              </a:rPr>
              <a:t>b) Construa seu </a:t>
            </a:r>
            <a:r>
              <a:rPr lang="pt-BR" sz="2200" dirty="0" err="1">
                <a:solidFill>
                  <a:srgbClr val="003958"/>
                </a:solidFill>
              </a:rPr>
              <a:t>boxplot</a:t>
            </a:r>
            <a:r>
              <a:rPr lang="pt-BR" sz="2200" dirty="0">
                <a:solidFill>
                  <a:srgbClr val="003958"/>
                </a:solidFill>
              </a:rPr>
              <a:t>;</a:t>
            </a:r>
          </a:p>
          <a:p>
            <a:r>
              <a:rPr lang="pt-BR" sz="2200" dirty="0">
                <a:solidFill>
                  <a:srgbClr val="003958"/>
                </a:solidFill>
              </a:rPr>
              <a:t>c) Há outliers entre essas observações? Quais?</a:t>
            </a:r>
          </a:p>
          <a:p>
            <a:r>
              <a:rPr lang="pt-BR" sz="2200" dirty="0">
                <a:solidFill>
                  <a:srgbClr val="003958"/>
                </a:solidFill>
              </a:rPr>
              <a:t>d) A sua variância;</a:t>
            </a:r>
          </a:p>
          <a:p>
            <a:r>
              <a:rPr lang="pt-BR" sz="2200" dirty="0">
                <a:solidFill>
                  <a:srgbClr val="003958"/>
                </a:solidFill>
              </a:rPr>
              <a:t>e) O seu desvio padrão.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E1E3A7C-4905-4722-9039-2F025D56F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091" y="2632970"/>
            <a:ext cx="4494079" cy="194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3381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Estatística Aplicada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No caso agora iremos verificar todas essas características diretamente no código </a:t>
            </a:r>
            <a:r>
              <a:rPr lang="pt-BR" sz="2200" dirty="0" err="1">
                <a:solidFill>
                  <a:srgbClr val="003958"/>
                </a:solidFill>
              </a:rPr>
              <a:t>python</a:t>
            </a:r>
            <a:r>
              <a:rPr lang="pt-BR" sz="2200" dirty="0">
                <a:solidFill>
                  <a:srgbClr val="003958"/>
                </a:solidFill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Para isso iremos utilizar apenas o pacote </a:t>
            </a:r>
            <a:r>
              <a:rPr lang="pt-BR" sz="2200" dirty="0" err="1">
                <a:solidFill>
                  <a:srgbClr val="003958"/>
                </a:solidFill>
              </a:rPr>
              <a:t>numpy</a:t>
            </a:r>
            <a:r>
              <a:rPr lang="pt-BR" sz="2200" dirty="0">
                <a:solidFill>
                  <a:srgbClr val="003958"/>
                </a:solidFill>
              </a:rPr>
              <a:t>, </a:t>
            </a:r>
            <a:r>
              <a:rPr lang="pt-BR" sz="2200" dirty="0" err="1">
                <a:solidFill>
                  <a:srgbClr val="003958"/>
                </a:solidFill>
              </a:rPr>
              <a:t>scipy</a:t>
            </a:r>
            <a:r>
              <a:rPr lang="pt-BR" sz="2200" dirty="0">
                <a:solidFill>
                  <a:srgbClr val="003958"/>
                </a:solidFill>
              </a:rPr>
              <a:t> (apenas o pacote </a:t>
            </a:r>
            <a:r>
              <a:rPr lang="pt-BR" sz="2200" dirty="0" err="1">
                <a:solidFill>
                  <a:srgbClr val="003958"/>
                </a:solidFill>
              </a:rPr>
              <a:t>stats</a:t>
            </a:r>
            <a:r>
              <a:rPr lang="pt-BR" sz="2200" dirty="0">
                <a:solidFill>
                  <a:srgbClr val="003958"/>
                </a:solidFill>
              </a:rPr>
              <a:t>) e o </a:t>
            </a:r>
            <a:r>
              <a:rPr lang="pt-BR" sz="2200" dirty="0" err="1">
                <a:solidFill>
                  <a:srgbClr val="003958"/>
                </a:solidFill>
              </a:rPr>
              <a:t>matplotlib</a:t>
            </a:r>
            <a:r>
              <a:rPr lang="pt-BR" sz="2200" dirty="0">
                <a:solidFill>
                  <a:srgbClr val="003958"/>
                </a:solidFill>
              </a:rPr>
              <a:t> para desenhar as figuras.</a:t>
            </a:r>
          </a:p>
        </p:txBody>
      </p:sp>
    </p:spTree>
    <p:extLst>
      <p:ext uri="{BB962C8B-B14F-4D97-AF65-F5344CB8AC3E}">
        <p14:creationId xmlns:p14="http://schemas.microsoft.com/office/powerpoint/2010/main" val="64761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Exercícios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Refaçam, portanto os exercícios agora no Python, utilizando como base o código </a:t>
            </a:r>
            <a:r>
              <a:rPr lang="pt-BR" sz="2200">
                <a:solidFill>
                  <a:srgbClr val="003958"/>
                </a:solidFill>
              </a:rPr>
              <a:t>do professor.</a:t>
            </a:r>
            <a:endParaRPr lang="pt-BR" sz="2200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558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Referências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3958"/>
                </a:solidFill>
              </a:rPr>
              <a:t>FÁVERO, Luiz Paulo; BELFIORE, Patrícia. </a:t>
            </a:r>
            <a:r>
              <a:rPr lang="pt-BR" b="1" dirty="0">
                <a:solidFill>
                  <a:srgbClr val="003958"/>
                </a:solidFill>
              </a:rPr>
              <a:t>Manual de Análise de Dados: </a:t>
            </a:r>
            <a:r>
              <a:rPr lang="pt-BR" dirty="0">
                <a:solidFill>
                  <a:srgbClr val="003958"/>
                </a:solidFill>
              </a:rPr>
              <a:t>Estatística e Modelagem Multivariada com Excel, SPSS e </a:t>
            </a:r>
            <a:r>
              <a:rPr lang="pt-BR" dirty="0" err="1">
                <a:solidFill>
                  <a:srgbClr val="003958"/>
                </a:solidFill>
              </a:rPr>
              <a:t>Stata</a:t>
            </a:r>
            <a:r>
              <a:rPr lang="pt-BR" dirty="0">
                <a:solidFill>
                  <a:srgbClr val="003958"/>
                </a:solidFill>
              </a:rPr>
              <a:t>. Rio de Janeiro: </a:t>
            </a:r>
            <a:r>
              <a:rPr lang="pt-BR" dirty="0" err="1">
                <a:solidFill>
                  <a:srgbClr val="003958"/>
                </a:solidFill>
              </a:rPr>
              <a:t>Ltc</a:t>
            </a:r>
            <a:r>
              <a:rPr lang="pt-BR" dirty="0">
                <a:solidFill>
                  <a:srgbClr val="003958"/>
                </a:solidFill>
              </a:rPr>
              <a:t>, 2020.</a:t>
            </a: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3958"/>
                </a:solidFill>
              </a:rPr>
              <a:t>CIFERRI, Cristina Dutra de Aguiar; CIFERRI, Ricardo Rodrigues. </a:t>
            </a:r>
            <a:r>
              <a:rPr lang="pt-BR" b="1" dirty="0">
                <a:solidFill>
                  <a:srgbClr val="003958"/>
                </a:solidFill>
              </a:rPr>
              <a:t>Modelagem Multidimensional. </a:t>
            </a:r>
            <a:r>
              <a:rPr lang="pt-BR" dirty="0">
                <a:solidFill>
                  <a:srgbClr val="003958"/>
                </a:solidFill>
              </a:rPr>
              <a:t>São Paulo: </a:t>
            </a:r>
            <a:r>
              <a:rPr lang="pt-BR" dirty="0" err="1">
                <a:solidFill>
                  <a:srgbClr val="003958"/>
                </a:solidFill>
              </a:rPr>
              <a:t>Usp</a:t>
            </a:r>
            <a:r>
              <a:rPr lang="pt-BR" dirty="0">
                <a:solidFill>
                  <a:srgbClr val="003958"/>
                </a:solidFill>
              </a:rPr>
              <a:t>, 2020. 14 slides, color. Disponível em: &lt;http://wiki.icmc.usp.br/</a:t>
            </a:r>
            <a:r>
              <a:rPr lang="pt-BR" dirty="0" err="1">
                <a:solidFill>
                  <a:srgbClr val="003958"/>
                </a:solidFill>
              </a:rPr>
              <a:t>images</a:t>
            </a:r>
            <a:r>
              <a:rPr lang="pt-BR" dirty="0">
                <a:solidFill>
                  <a:srgbClr val="003958"/>
                </a:solidFill>
              </a:rPr>
              <a:t>/6/6a/SCC5911-02-ModelagemMultidimensional.pdf&gt;. Acesso em: 10 jan. 2020.</a:t>
            </a: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3958"/>
                </a:solidFill>
              </a:rPr>
              <a:t>RESENDE, Tânia. </a:t>
            </a:r>
            <a:r>
              <a:rPr lang="pt-BR" b="1" dirty="0">
                <a:solidFill>
                  <a:srgbClr val="003958"/>
                </a:solidFill>
              </a:rPr>
              <a:t>Modelagem multidimensional conceitos básicos. </a:t>
            </a:r>
            <a:r>
              <a:rPr lang="pt-BR" dirty="0">
                <a:solidFill>
                  <a:srgbClr val="003958"/>
                </a:solidFill>
              </a:rPr>
              <a:t>São Paulo: </a:t>
            </a:r>
            <a:r>
              <a:rPr lang="pt-BR" dirty="0" err="1">
                <a:solidFill>
                  <a:srgbClr val="003958"/>
                </a:solidFill>
              </a:rPr>
              <a:t>Slideshare</a:t>
            </a:r>
            <a:r>
              <a:rPr lang="pt-BR" dirty="0">
                <a:solidFill>
                  <a:srgbClr val="003958"/>
                </a:solidFill>
              </a:rPr>
              <a:t>, 2016. 28 slides, color. Disponível em: &lt;https://pt.slideshare.net/TANIARESENDE/modelagem-multidimensional-conceitos-</a:t>
            </a:r>
            <a:r>
              <a:rPr lang="pt-BR" dirty="0" err="1">
                <a:solidFill>
                  <a:srgbClr val="003958"/>
                </a:solidFill>
              </a:rPr>
              <a:t>bsicos</a:t>
            </a:r>
            <a:r>
              <a:rPr lang="pt-BR" dirty="0">
                <a:solidFill>
                  <a:srgbClr val="003958"/>
                </a:solidFill>
              </a:rPr>
              <a:t>&gt;. Acesso em: 18 fev. 2020.</a:t>
            </a: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3958"/>
                </a:solidFill>
              </a:rPr>
              <a:t>JARDIM, Edgar Silveira; OLIVEIRA, Marcus Vinícius Abreu de; MORAVIA, Rodrigo Vitorino. Diferença Entre Banco de Dados Relacional e Banco de Dados Dimensional. </a:t>
            </a:r>
            <a:r>
              <a:rPr lang="pt-BR" b="1" dirty="0">
                <a:solidFill>
                  <a:srgbClr val="003958"/>
                </a:solidFill>
              </a:rPr>
              <a:t>Revista Pensar Tecnologia</a:t>
            </a:r>
            <a:r>
              <a:rPr lang="pt-BR" dirty="0">
                <a:solidFill>
                  <a:srgbClr val="003958"/>
                </a:solidFill>
              </a:rPr>
              <a:t>, Belo Horizonte, v. 2, n. 4, p.1-17, julho 2015. Mensal. Disponível em: &lt;http://revistapensar.com.br/tecnologia/</a:t>
            </a:r>
            <a:r>
              <a:rPr lang="pt-BR" dirty="0" err="1">
                <a:solidFill>
                  <a:srgbClr val="003958"/>
                </a:solidFill>
              </a:rPr>
              <a:t>pasta_upload</a:t>
            </a:r>
            <a:r>
              <a:rPr lang="pt-BR" dirty="0">
                <a:solidFill>
                  <a:srgbClr val="003958"/>
                </a:solidFill>
              </a:rPr>
              <a:t>/artigos/a122.pdf&gt;. Acesso em: 18 fev. 2020.</a:t>
            </a: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3958"/>
                </a:solidFill>
              </a:rPr>
              <a:t>SERGENTI, Alexsandro. </a:t>
            </a:r>
            <a:r>
              <a:rPr lang="pt-BR" b="1" dirty="0">
                <a:solidFill>
                  <a:srgbClr val="003958"/>
                </a:solidFill>
              </a:rPr>
              <a:t>Modelagem Relacional e Multidimensional: </a:t>
            </a:r>
            <a:r>
              <a:rPr lang="pt-BR" dirty="0">
                <a:solidFill>
                  <a:srgbClr val="003958"/>
                </a:solidFill>
              </a:rPr>
              <a:t>uma análise envolvendo Sistemas de Apoio a decisão. 2015. Disponível em: &lt;https://www.linkedin.com/pulse/modelagem-relacional-e-multidimensional-uma-an%C3%A1lise-de-sergenti/&gt;. Acesso em: 18 fev. 2020.</a:t>
            </a:r>
            <a:endParaRPr lang="en-US" dirty="0">
              <a:solidFill>
                <a:srgbClr val="003958"/>
              </a:solidFill>
            </a:endParaRPr>
          </a:p>
          <a:p>
            <a:pPr marL="342900" indent="-34290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9821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2471F-3069-781D-FD39-8C8A077F9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08DE8C-9C41-66A2-2AEB-2FCAE91A801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Referências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A9C333F9-9D49-0360-D438-4071A9E54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Tx/>
              <a:buChar char="-"/>
            </a:pPr>
            <a:r>
              <a:rPr lang="pt-BR" dirty="0"/>
              <a:t>- </a:t>
            </a:r>
            <a:r>
              <a:rPr lang="pt-BR" dirty="0">
                <a:solidFill>
                  <a:srgbClr val="003958"/>
                </a:solidFill>
              </a:rPr>
              <a:t>MONTGOMERY, Douglas G.; RUNGER, George C.; HUBELE, Norma F.. </a:t>
            </a:r>
            <a:r>
              <a:rPr lang="pt-BR" b="1" dirty="0">
                <a:solidFill>
                  <a:srgbClr val="003958"/>
                </a:solidFill>
              </a:rPr>
              <a:t>Estatística Aplicada à Engenharia. </a:t>
            </a:r>
            <a:r>
              <a:rPr lang="pt-BR" dirty="0">
                <a:solidFill>
                  <a:srgbClr val="003958"/>
                </a:solidFill>
              </a:rPr>
              <a:t>2. ed. Rio de Janeiro: </a:t>
            </a:r>
            <a:r>
              <a:rPr lang="pt-BR" dirty="0" err="1">
                <a:solidFill>
                  <a:srgbClr val="003958"/>
                </a:solidFill>
              </a:rPr>
              <a:t>Ltc</a:t>
            </a:r>
            <a:r>
              <a:rPr lang="pt-BR" dirty="0">
                <a:solidFill>
                  <a:srgbClr val="003958"/>
                </a:solidFill>
              </a:rPr>
              <a:t>, 2004.</a:t>
            </a:r>
            <a:endParaRPr lang="en-US" dirty="0">
              <a:solidFill>
                <a:srgbClr val="003958"/>
              </a:solidFill>
            </a:endParaRPr>
          </a:p>
          <a:p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3958"/>
                </a:solidFill>
              </a:rPr>
              <a:t>VIGEN, Tyler. </a:t>
            </a:r>
            <a:r>
              <a:rPr lang="pt-BR" b="1" dirty="0" err="1">
                <a:solidFill>
                  <a:srgbClr val="003958"/>
                </a:solidFill>
              </a:rPr>
              <a:t>Spurious</a:t>
            </a:r>
            <a:r>
              <a:rPr lang="pt-BR" b="1" dirty="0">
                <a:solidFill>
                  <a:srgbClr val="003958"/>
                </a:solidFill>
              </a:rPr>
              <a:t> </a:t>
            </a:r>
            <a:r>
              <a:rPr lang="pt-BR" b="1" dirty="0" err="1">
                <a:solidFill>
                  <a:srgbClr val="003958"/>
                </a:solidFill>
              </a:rPr>
              <a:t>Correlations</a:t>
            </a:r>
            <a:r>
              <a:rPr lang="pt-BR" b="1" dirty="0">
                <a:solidFill>
                  <a:srgbClr val="003958"/>
                </a:solidFill>
              </a:rPr>
              <a:t>. </a:t>
            </a:r>
            <a:r>
              <a:rPr lang="pt-BR" dirty="0">
                <a:solidFill>
                  <a:srgbClr val="003958"/>
                </a:solidFill>
              </a:rPr>
              <a:t>Disponível em: tylervigen.com. Acesso em: 24 mar. 2020.</a:t>
            </a:r>
          </a:p>
          <a:p>
            <a:pPr marL="342900" indent="-342900">
              <a:buFontTx/>
              <a:buChar char="-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3958"/>
                </a:solidFill>
              </a:rPr>
              <a:t>TEAM, </a:t>
            </a:r>
            <a:r>
              <a:rPr lang="pt-BR" dirty="0" err="1">
                <a:solidFill>
                  <a:srgbClr val="003958"/>
                </a:solidFill>
              </a:rPr>
              <a:t>Bravi</a:t>
            </a:r>
            <a:r>
              <a:rPr lang="pt-BR" dirty="0">
                <a:solidFill>
                  <a:srgbClr val="003958"/>
                </a:solidFill>
              </a:rPr>
              <a:t>. </a:t>
            </a:r>
            <a:r>
              <a:rPr lang="pt-BR" b="1" dirty="0">
                <a:solidFill>
                  <a:srgbClr val="003958"/>
                </a:solidFill>
              </a:rPr>
              <a:t>Experimentos de design e análise de dados: o que você precisa saber sobre correlação e causalidade. </a:t>
            </a:r>
            <a:r>
              <a:rPr lang="pt-BR" dirty="0">
                <a:solidFill>
                  <a:srgbClr val="003958"/>
                </a:solidFill>
              </a:rPr>
              <a:t>o que você precisa saber sobre correlação e causalidade. 2017. Disponível em: http://blog.bravi.com.br/</a:t>
            </a:r>
            <a:r>
              <a:rPr lang="pt-BR" dirty="0" err="1">
                <a:solidFill>
                  <a:srgbClr val="003958"/>
                </a:solidFill>
              </a:rPr>
              <a:t>correlacao</a:t>
            </a:r>
            <a:r>
              <a:rPr lang="pt-BR" dirty="0">
                <a:solidFill>
                  <a:srgbClr val="003958"/>
                </a:solidFill>
              </a:rPr>
              <a:t>-e-causalidade/. Acesso em: 24 mar. 2020.</a:t>
            </a:r>
          </a:p>
          <a:p>
            <a:pPr marL="342900" indent="-342900">
              <a:buFontTx/>
              <a:buChar char="-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3958"/>
                </a:solidFill>
              </a:rPr>
              <a:t>M., Prof. </a:t>
            </a:r>
            <a:r>
              <a:rPr lang="pt-BR" b="1" dirty="0">
                <a:solidFill>
                  <a:srgbClr val="003958"/>
                </a:solidFill>
              </a:rPr>
              <a:t>O que é correlação e causalidade?: conheça rapidamente os conceitos de correlação e causalidade.. </a:t>
            </a:r>
            <a:r>
              <a:rPr lang="pt-BR" dirty="0">
                <a:solidFill>
                  <a:srgbClr val="003958"/>
                </a:solidFill>
              </a:rPr>
              <a:t>Conheça rapidamente os conceitos de correlação e causalidade.. 2018. Disponível em: https://profes.com.br/</a:t>
            </a:r>
            <a:r>
              <a:rPr lang="pt-BR" dirty="0" err="1">
                <a:solidFill>
                  <a:srgbClr val="003958"/>
                </a:solidFill>
              </a:rPr>
              <a:t>aulasdeestatistica</a:t>
            </a:r>
            <a:r>
              <a:rPr lang="pt-BR" dirty="0">
                <a:solidFill>
                  <a:srgbClr val="003958"/>
                </a:solidFill>
              </a:rPr>
              <a:t>/blog/o-que-e-</a:t>
            </a:r>
            <a:r>
              <a:rPr lang="pt-BR" dirty="0" err="1">
                <a:solidFill>
                  <a:srgbClr val="003958"/>
                </a:solidFill>
              </a:rPr>
              <a:t>correlacao</a:t>
            </a:r>
            <a:r>
              <a:rPr lang="pt-BR" dirty="0">
                <a:solidFill>
                  <a:srgbClr val="003958"/>
                </a:solidFill>
              </a:rPr>
              <a:t>-e-causalidade. Acesso em: 24 mar. 2020.</a:t>
            </a:r>
            <a:endParaRPr lang="en-US" dirty="0">
              <a:solidFill>
                <a:srgbClr val="003958"/>
              </a:solidFill>
            </a:endParaRPr>
          </a:p>
          <a:p>
            <a:pPr marL="342900" indent="-342900">
              <a:buFontTx/>
              <a:buChar char="-"/>
            </a:pPr>
            <a:endParaRPr lang="en-US" dirty="0">
              <a:solidFill>
                <a:srgbClr val="003958"/>
              </a:solidFill>
            </a:endParaRPr>
          </a:p>
          <a:p>
            <a:pPr marL="342900" indent="-34290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0562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resentação7" id="{59EF884D-FF5E-4FD0-A607-B5C961B47064}" vid="{A602817E-DF85-4F99-8FE9-FF6794F2241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Engenharia da Computação</Template>
  <TotalTime>12101</TotalTime>
  <Words>3462</Words>
  <Application>Microsoft Office PowerPoint</Application>
  <PresentationFormat>Widescreen</PresentationFormat>
  <Paragraphs>405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Impact</vt:lpstr>
      <vt:lpstr>Tema do Office</vt:lpstr>
      <vt:lpstr>Estatística Aplicada – Aula 2</vt:lpstr>
      <vt:lpstr>Apresentação da Disciplina/ Medidas de Tendência Central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Estatística Aplicada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Basilio Marcelo</dc:creator>
  <cp:lastModifiedBy>Fabio Bittencourt</cp:lastModifiedBy>
  <cp:revision>49</cp:revision>
  <dcterms:created xsi:type="dcterms:W3CDTF">2019-02-19T21:17:49Z</dcterms:created>
  <dcterms:modified xsi:type="dcterms:W3CDTF">2026-03-01T21:55:26Z</dcterms:modified>
</cp:coreProperties>
</file>