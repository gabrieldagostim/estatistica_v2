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58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BA702-7789-4E5F-A0B2-6145E5655483}" v="14" dt="2026-05-11T04:18:41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5-11T04:19:48.627" v="30504" actId="20577"/>
      <pc:docMkLst>
        <pc:docMk/>
      </pc:docMkLst>
      <pc:sldChg chg="modSp add del mod">
        <pc:chgData name="Fabio Bittencourt" userId="9399af9f441dfb25" providerId="LiveId" clId="{87FEEC51-4A4D-4000-AFF7-19B075429E2B}" dt="2026-05-10T23:06:00.780" v="22835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5-10T23:06:00.780" v="22835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del mod ord">
        <pc:chgData name="Fabio Bittencourt" userId="9399af9f441dfb25" providerId="LiveId" clId="{87FEEC51-4A4D-4000-AFF7-19B075429E2B}" dt="2026-05-10T23:06:23.253" v="22883" actId="20577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5-10T23:06:23.253" v="22883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modSp add mod ord">
        <pc:chgData name="Fabio Bittencourt" userId="9399af9f441dfb25" providerId="LiveId" clId="{87FEEC51-4A4D-4000-AFF7-19B075429E2B}" dt="2026-05-10T23:21:45.075" v="23773" actId="255"/>
        <pc:sldMkLst>
          <pc:docMk/>
          <pc:sldMk cId="1624693146" sldId="385"/>
        </pc:sldMkLst>
        <pc:spChg chg="mod">
          <ac:chgData name="Fabio Bittencourt" userId="9399af9f441dfb25" providerId="LiveId" clId="{87FEEC51-4A4D-4000-AFF7-19B075429E2B}" dt="2026-05-10T23:06:33.212" v="22905" actId="20577"/>
          <ac:spMkLst>
            <pc:docMk/>
            <pc:sldMk cId="1624693146" sldId="385"/>
            <ac:spMk id="4" creationId="{B3E9F31C-3C67-CFE1-D84A-64CA770EF212}"/>
          </ac:spMkLst>
        </pc:spChg>
        <pc:spChg chg="mod">
          <ac:chgData name="Fabio Bittencourt" userId="9399af9f441dfb25" providerId="LiveId" clId="{87FEEC51-4A4D-4000-AFF7-19B075429E2B}" dt="2026-05-10T23:21:45.075" v="23773" actId="255"/>
          <ac:spMkLst>
            <pc:docMk/>
            <pc:sldMk cId="1624693146" sldId="385"/>
            <ac:spMk id="6" creationId="{23BCCD4D-49FC-EF9E-7536-151959D3C66E}"/>
          </ac:spMkLst>
        </pc:spChg>
      </pc:sldChg>
      <pc:sldChg chg="modSp add mod">
        <pc:chgData name="Fabio Bittencourt" userId="9399af9f441dfb25" providerId="LiveId" clId="{87FEEC51-4A4D-4000-AFF7-19B075429E2B}" dt="2026-05-10T23:35:52.059" v="24701" actId="20577"/>
        <pc:sldMkLst>
          <pc:docMk/>
          <pc:sldMk cId="2858616135" sldId="386"/>
        </pc:sldMkLst>
        <pc:spChg chg="mod">
          <ac:chgData name="Fabio Bittencourt" userId="9399af9f441dfb25" providerId="LiveId" clId="{87FEEC51-4A4D-4000-AFF7-19B075429E2B}" dt="2026-05-10T23:35:52.059" v="24701" actId="20577"/>
          <ac:spMkLst>
            <pc:docMk/>
            <pc:sldMk cId="2858616135" sldId="386"/>
            <ac:spMk id="6" creationId="{4157FE62-3202-4E74-FE97-5E5003BBA34E}"/>
          </ac:spMkLst>
        </pc:spChg>
      </pc:sldChg>
      <pc:sldChg chg="modSp add del mod">
        <pc:chgData name="Fabio Bittencourt" userId="9399af9f441dfb25" providerId="LiveId" clId="{87FEEC51-4A4D-4000-AFF7-19B075429E2B}" dt="2026-05-10T23:06:36.536" v="22906" actId="2696"/>
        <pc:sldMkLst>
          <pc:docMk/>
          <pc:sldMk cId="4104329185" sldId="386"/>
        </pc:sldMkLst>
      </pc:sldChg>
      <pc:sldChg chg="modSp add mod">
        <pc:chgData name="Fabio Bittencourt" userId="9399af9f441dfb25" providerId="LiveId" clId="{87FEEC51-4A4D-4000-AFF7-19B075429E2B}" dt="2026-05-10T23:49:47.094" v="25358" actId="113"/>
        <pc:sldMkLst>
          <pc:docMk/>
          <pc:sldMk cId="4208646325" sldId="387"/>
        </pc:sldMkLst>
        <pc:spChg chg="mod">
          <ac:chgData name="Fabio Bittencourt" userId="9399af9f441dfb25" providerId="LiveId" clId="{87FEEC51-4A4D-4000-AFF7-19B075429E2B}" dt="2026-05-10T23:49:47.094" v="25358" actId="113"/>
          <ac:spMkLst>
            <pc:docMk/>
            <pc:sldMk cId="4208646325" sldId="387"/>
            <ac:spMk id="6" creationId="{332FF8D7-5756-E016-9466-ACB67163F1E5}"/>
          </ac:spMkLst>
        </pc:spChg>
      </pc:sldChg>
      <pc:sldChg chg="modSp add mod">
        <pc:chgData name="Fabio Bittencourt" userId="9399af9f441dfb25" providerId="LiveId" clId="{87FEEC51-4A4D-4000-AFF7-19B075429E2B}" dt="2026-05-10T23:58:55.592" v="26139" actId="20577"/>
        <pc:sldMkLst>
          <pc:docMk/>
          <pc:sldMk cId="313295093" sldId="388"/>
        </pc:sldMkLst>
        <pc:spChg chg="mod">
          <ac:chgData name="Fabio Bittencourt" userId="9399af9f441dfb25" providerId="LiveId" clId="{87FEEC51-4A4D-4000-AFF7-19B075429E2B}" dt="2026-05-10T23:58:55.592" v="26139" actId="20577"/>
          <ac:spMkLst>
            <pc:docMk/>
            <pc:sldMk cId="313295093" sldId="388"/>
            <ac:spMk id="6" creationId="{1FBD71DB-C0F5-30AE-8D82-1E244F8C46E7}"/>
          </ac:spMkLst>
        </pc:spChg>
      </pc:sldChg>
      <pc:sldChg chg="modSp add mod">
        <pc:chgData name="Fabio Bittencourt" userId="9399af9f441dfb25" providerId="LiveId" clId="{87FEEC51-4A4D-4000-AFF7-19B075429E2B}" dt="2026-05-11T03:43:19.802" v="28315" actId="403"/>
        <pc:sldMkLst>
          <pc:docMk/>
          <pc:sldMk cId="918290704" sldId="389"/>
        </pc:sldMkLst>
        <pc:spChg chg="mod">
          <ac:chgData name="Fabio Bittencourt" userId="9399af9f441dfb25" providerId="LiveId" clId="{87FEEC51-4A4D-4000-AFF7-19B075429E2B}" dt="2026-05-11T03:43:19.802" v="28315" actId="403"/>
          <ac:spMkLst>
            <pc:docMk/>
            <pc:sldMk cId="918290704" sldId="389"/>
            <ac:spMk id="6" creationId="{6C275C27-FBE6-8C44-2F84-16390BFD21C8}"/>
          </ac:spMkLst>
        </pc:spChg>
      </pc:sldChg>
      <pc:sldChg chg="modSp add mod">
        <pc:chgData name="Fabio Bittencourt" userId="9399af9f441dfb25" providerId="LiveId" clId="{87FEEC51-4A4D-4000-AFF7-19B075429E2B}" dt="2026-05-11T00:34:03.049" v="27454" actId="20577"/>
        <pc:sldMkLst>
          <pc:docMk/>
          <pc:sldMk cId="1379923184" sldId="390"/>
        </pc:sldMkLst>
        <pc:spChg chg="mod">
          <ac:chgData name="Fabio Bittencourt" userId="9399af9f441dfb25" providerId="LiveId" clId="{87FEEC51-4A4D-4000-AFF7-19B075429E2B}" dt="2026-05-11T00:34:03.049" v="27454" actId="20577"/>
          <ac:spMkLst>
            <pc:docMk/>
            <pc:sldMk cId="1379923184" sldId="390"/>
            <ac:spMk id="6" creationId="{665A29BA-434A-D592-0347-43B8CDE09308}"/>
          </ac:spMkLst>
        </pc:spChg>
      </pc:sldChg>
      <pc:sldChg chg="addSp delSp modSp add mod">
        <pc:chgData name="Fabio Bittencourt" userId="9399af9f441dfb25" providerId="LiveId" clId="{87FEEC51-4A4D-4000-AFF7-19B075429E2B}" dt="2026-05-11T00:34:42.052" v="27466" actId="1076"/>
        <pc:sldMkLst>
          <pc:docMk/>
          <pc:sldMk cId="2552500689" sldId="391"/>
        </pc:sldMkLst>
        <pc:spChg chg="add del mod">
          <ac:chgData name="Fabio Bittencourt" userId="9399af9f441dfb25" providerId="LiveId" clId="{87FEEC51-4A4D-4000-AFF7-19B075429E2B}" dt="2026-05-11T00:34:15.918" v="27457" actId="478"/>
          <ac:spMkLst>
            <pc:docMk/>
            <pc:sldMk cId="2552500689" sldId="391"/>
            <ac:spMk id="3" creationId="{5F892BA8-675D-C2C4-E9A3-DB680B66030A}"/>
          </ac:spMkLst>
        </pc:spChg>
        <pc:spChg chg="mod">
          <ac:chgData name="Fabio Bittencourt" userId="9399af9f441dfb25" providerId="LiveId" clId="{87FEEC51-4A4D-4000-AFF7-19B075429E2B}" dt="2026-05-11T00:34:35.275" v="27462" actId="27636"/>
          <ac:spMkLst>
            <pc:docMk/>
            <pc:sldMk cId="2552500689" sldId="391"/>
            <ac:spMk id="4" creationId="{EB547294-F604-C2B5-279F-1CFDF87B7CDF}"/>
          </ac:spMkLst>
        </pc:spChg>
        <pc:spChg chg="del">
          <ac:chgData name="Fabio Bittencourt" userId="9399af9f441dfb25" providerId="LiveId" clId="{87FEEC51-4A4D-4000-AFF7-19B075429E2B}" dt="2026-05-11T00:34:13.140" v="27456" actId="478"/>
          <ac:spMkLst>
            <pc:docMk/>
            <pc:sldMk cId="2552500689" sldId="391"/>
            <ac:spMk id="6" creationId="{3BA43EA9-FD31-E716-BF1A-490DE87D3712}"/>
          </ac:spMkLst>
        </pc:spChg>
        <pc:picChg chg="add mod">
          <ac:chgData name="Fabio Bittencourt" userId="9399af9f441dfb25" providerId="LiveId" clId="{87FEEC51-4A4D-4000-AFF7-19B075429E2B}" dt="2026-05-11T00:34:42.052" v="27466" actId="1076"/>
          <ac:picMkLst>
            <pc:docMk/>
            <pc:sldMk cId="2552500689" sldId="391"/>
            <ac:picMk id="7" creationId="{7849D160-0002-E3AC-64DB-5DDA87D680CB}"/>
          </ac:picMkLst>
        </pc:picChg>
      </pc:sldChg>
      <pc:sldChg chg="modSp add mod ord">
        <pc:chgData name="Fabio Bittencourt" userId="9399af9f441dfb25" providerId="LiveId" clId="{87FEEC51-4A4D-4000-AFF7-19B075429E2B}" dt="2026-05-11T03:43:25.058" v="28317" actId="403"/>
        <pc:sldMkLst>
          <pc:docMk/>
          <pc:sldMk cId="415368404" sldId="392"/>
        </pc:sldMkLst>
        <pc:spChg chg="mod">
          <ac:chgData name="Fabio Bittencourt" userId="9399af9f441dfb25" providerId="LiveId" clId="{87FEEC51-4A4D-4000-AFF7-19B075429E2B}" dt="2026-05-11T03:43:25.058" v="28317" actId="403"/>
          <ac:spMkLst>
            <pc:docMk/>
            <pc:sldMk cId="415368404" sldId="392"/>
            <ac:spMk id="6" creationId="{0CAC2ED1-FD38-7823-B9E0-1843F8E17E67}"/>
          </ac:spMkLst>
        </pc:spChg>
      </pc:sldChg>
      <pc:sldChg chg="modSp add mod">
        <pc:chgData name="Fabio Bittencourt" userId="9399af9f441dfb25" providerId="LiveId" clId="{87FEEC51-4A4D-4000-AFF7-19B075429E2B}" dt="2026-05-11T03:57:25.601" v="29135" actId="20577"/>
        <pc:sldMkLst>
          <pc:docMk/>
          <pc:sldMk cId="2792402790" sldId="393"/>
        </pc:sldMkLst>
        <pc:spChg chg="mod">
          <ac:chgData name="Fabio Bittencourt" userId="9399af9f441dfb25" providerId="LiveId" clId="{87FEEC51-4A4D-4000-AFF7-19B075429E2B}" dt="2026-05-11T03:57:25.601" v="29135" actId="20577"/>
          <ac:spMkLst>
            <pc:docMk/>
            <pc:sldMk cId="2792402790" sldId="393"/>
            <ac:spMk id="6" creationId="{FC6D1902-C3AC-64CC-790B-B2B9129A7150}"/>
          </ac:spMkLst>
        </pc:spChg>
      </pc:sldChg>
      <pc:sldChg chg="modSp add mod">
        <pc:chgData name="Fabio Bittencourt" userId="9399af9f441dfb25" providerId="LiveId" clId="{87FEEC51-4A4D-4000-AFF7-19B075429E2B}" dt="2026-05-11T04:08:47.099" v="29283" actId="12"/>
        <pc:sldMkLst>
          <pc:docMk/>
          <pc:sldMk cId="1996749239" sldId="394"/>
        </pc:sldMkLst>
        <pc:spChg chg="mod">
          <ac:chgData name="Fabio Bittencourt" userId="9399af9f441dfb25" providerId="LiveId" clId="{87FEEC51-4A4D-4000-AFF7-19B075429E2B}" dt="2026-05-11T04:08:47.099" v="29283" actId="12"/>
          <ac:spMkLst>
            <pc:docMk/>
            <pc:sldMk cId="1996749239" sldId="394"/>
            <ac:spMk id="6" creationId="{56A939AC-B356-CD3C-3FAA-BFD6908253D9}"/>
          </ac:spMkLst>
        </pc:spChg>
      </pc:sldChg>
      <pc:sldChg chg="add del">
        <pc:chgData name="Fabio Bittencourt" userId="9399af9f441dfb25" providerId="LiveId" clId="{87FEEC51-4A4D-4000-AFF7-19B075429E2B}" dt="2026-05-11T03:52:08.183" v="29067" actId="2696"/>
        <pc:sldMkLst>
          <pc:docMk/>
          <pc:sldMk cId="2382659115" sldId="394"/>
        </pc:sldMkLst>
      </pc:sldChg>
      <pc:sldChg chg="modSp add mod">
        <pc:chgData name="Fabio Bittencourt" userId="9399af9f441dfb25" providerId="LiveId" clId="{87FEEC51-4A4D-4000-AFF7-19B075429E2B}" dt="2026-05-11T04:16:06.959" v="30092" actId="20577"/>
        <pc:sldMkLst>
          <pc:docMk/>
          <pc:sldMk cId="3885818342" sldId="395"/>
        </pc:sldMkLst>
        <pc:spChg chg="mod">
          <ac:chgData name="Fabio Bittencourt" userId="9399af9f441dfb25" providerId="LiveId" clId="{87FEEC51-4A4D-4000-AFF7-19B075429E2B}" dt="2026-05-11T04:09:42.767" v="29303" actId="313"/>
          <ac:spMkLst>
            <pc:docMk/>
            <pc:sldMk cId="3885818342" sldId="395"/>
            <ac:spMk id="4" creationId="{8D16FBBE-67D1-9FC5-2832-4778F120BBCE}"/>
          </ac:spMkLst>
        </pc:spChg>
        <pc:spChg chg="mod">
          <ac:chgData name="Fabio Bittencourt" userId="9399af9f441dfb25" providerId="LiveId" clId="{87FEEC51-4A4D-4000-AFF7-19B075429E2B}" dt="2026-05-11T04:16:06.959" v="30092" actId="20577"/>
          <ac:spMkLst>
            <pc:docMk/>
            <pc:sldMk cId="3885818342" sldId="395"/>
            <ac:spMk id="6" creationId="{80F6A75E-8D9D-74DE-8D67-DB33F4356F86}"/>
          </ac:spMkLst>
        </pc:spChg>
      </pc:sldChg>
      <pc:sldChg chg="modSp add mod">
        <pc:chgData name="Fabio Bittencourt" userId="9399af9f441dfb25" providerId="LiveId" clId="{87FEEC51-4A4D-4000-AFF7-19B075429E2B}" dt="2026-05-11T04:19:48.627" v="30504" actId="20577"/>
        <pc:sldMkLst>
          <pc:docMk/>
          <pc:sldMk cId="694837939" sldId="396"/>
        </pc:sldMkLst>
        <pc:spChg chg="mod">
          <ac:chgData name="Fabio Bittencourt" userId="9399af9f441dfb25" providerId="LiveId" clId="{87FEEC51-4A4D-4000-AFF7-19B075429E2B}" dt="2026-05-11T04:19:48.627" v="30504" actId="20577"/>
          <ac:spMkLst>
            <pc:docMk/>
            <pc:sldMk cId="694837939" sldId="396"/>
            <ac:spMk id="6" creationId="{60F774CF-2C71-C52B-C353-13DA386F7A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Aula 13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Intervalo de Confiança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Já falamos aqui sobre as estimativas intervalares e pontuais, e quando falamos das estimativas pontuais, comentamos que a média é uma das estimativas pontuais mais comumente utilizadas;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E quando conversamos das estimativas intervalares, preferimos deixar o intervalo de confiança para um momento especial que é esse da aula de aula;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Quando estávamos também falando das estimativas intervalares, falamos sobre a estimativa de tolerância, que se aproxima bem do nosso assunto de hoje;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Imaginem o seguinte caso, você precisa medir o gasto de água em litros da sua casa, e ai você tem a média, o intuitivo é dizer a média.</a:t>
            </a: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B2A39-F859-8FF7-C480-E816E3E8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56451E-04F0-98F4-44BF-51273D8EDB7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157FE62-3202-4E74-FE97-5E5003BB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Contudo, uma forma mais assertiva de dizer até para estimar é dizer um intervalo de média, você pode dizer algo do tipo: “Olha eu gasto algo entre 420 e 500 litros”, por mais que você saiba que a média é 460 litros;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E porque fazemos isso, porque não queremos ser rígidos com determinados casos que sabemos que não são propícios a repetirem valores;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Notem que geralmente essa abordagem é mais “confiante” pois lhe dá um intervalo para se basear e daí temos ao “Intervalo de Confiança”;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Para o cálculo desse tipo de estimativa, precisaremos entender quais componentes compõem essa fórmula.</a:t>
            </a: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58616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D6FF-DD29-923D-9CA8-B16B4401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738E9-0D1A-FA8F-9483-6EA0583D83B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32FF8D7-5756-E016-9466-ACB67163F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Primeiramente, como já citado, a </a:t>
            </a:r>
            <a:r>
              <a:rPr lang="pt-BR" sz="2000" b="1" dirty="0">
                <a:solidFill>
                  <a:srgbClr val="003958"/>
                </a:solidFill>
              </a:rPr>
              <a:t>média</a:t>
            </a:r>
            <a:r>
              <a:rPr lang="pt-BR" sz="2000" dirty="0">
                <a:solidFill>
                  <a:srgbClr val="003958"/>
                </a:solidFill>
              </a:rPr>
              <a:t> é um componente importante dessa fórmula, ela é a base do nosso cálculo;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Tão importante quanto, é o </a:t>
            </a:r>
            <a:r>
              <a:rPr lang="pt-BR" sz="2000" b="1" dirty="0">
                <a:solidFill>
                  <a:srgbClr val="003958"/>
                </a:solidFill>
                <a:ea typeface="Calibri"/>
                <a:cs typeface="Calibri"/>
              </a:rPr>
              <a:t>desvio-padrão</a:t>
            </a: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, que vai nos ajudar a entender o quanto essa média se move entre as ocorrência e calcular o intervalo;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Obviamente, precisamos também saber nosso N, ou seja, o </a:t>
            </a:r>
            <a:r>
              <a:rPr lang="pt-BR" sz="2000" b="1" dirty="0">
                <a:solidFill>
                  <a:srgbClr val="003958"/>
                </a:solidFill>
                <a:ea typeface="Calibri"/>
                <a:cs typeface="Calibri"/>
              </a:rPr>
              <a:t>tamanho da amostra</a:t>
            </a: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, que será a partir dela que iremos dar prosseguimento no nosso cálculo;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E por fim, precisaremos escolher um </a:t>
            </a:r>
            <a:r>
              <a:rPr lang="pt-BR" sz="2000" b="1" dirty="0">
                <a:solidFill>
                  <a:srgbClr val="003958"/>
                </a:solidFill>
                <a:ea typeface="Calibri"/>
                <a:cs typeface="Calibri"/>
              </a:rPr>
              <a:t>nível de confiança</a:t>
            </a: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, que vai nos dar um percentual da “certeza” daquela nossa estimativa.</a:t>
            </a: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08646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EDECC-FAF6-BBEF-BA08-640718D7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03CE6C-D4B6-C3B4-420C-24A0EFA7822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FBD71DB-C0F5-30AE-8D82-1E244F8C4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Esse valor de nível de confiança é geralmente estimado entre 90% até 99,9%, mas o que afeta escolhermos um valor maior ou menor?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Quase que instintivamente, vamos sempre querer escolher o maior nível de confiança, então porque não usamos sempre o maior nível possível?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Bom, para responder ambas as perguntas podemos voltar a questão da média, a média seria o nível de confiança “maior”, ela seria o 100%, então queremos colocar um intervalo, e quanto mais rígido você for como o nível de confiança, menos intervalo ele terá;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Imagine como se fosse uma torneira, onde o 100% é fechada, quanto mais você abre, mais água sai.</a:t>
            </a: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295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A947-2324-36C3-AE92-B08CBB0F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61B688-16E3-8FBD-855F-75838F5A7CD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6C275C27-FBE6-8C44-2F84-16390BFD21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Portanto, é comum que seja visto o uso de 90, 95 e 99.5% de nível de confiança e você como entendedor do contexto escolhe o que melhor se aplica ao seu cenário;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/>
                  <a:cs typeface="Calibri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/>
                    <a:cs typeface="Calibri"/>
                  </a:rPr>
                  <a:t>Dando sequência, em nossos componentes de cálculo do intervalo de confiança, temos o cálculo do erro-padrão, que é ditado pela fórmula abaixo: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/>
                  <a:cs typeface="Calibri"/>
                </a:endParaRPr>
              </a:p>
              <a:p>
                <a:pPr algn="ctr"/>
                <a:r>
                  <a:rPr lang="pt-BR" sz="2000" dirty="0">
                    <a:solidFill>
                      <a:srgbClr val="003958"/>
                    </a:solidFill>
                    <a:ea typeface="Calibri"/>
                    <a:cs typeface="Calibri"/>
                  </a:rPr>
                  <a:t>EP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fPr>
                      <m:num>
                        <m:r>
                          <a:rPr lang="pt-BR" sz="2000" b="0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t-BR" sz="2000" i="1" smtClean="0">
                                <a:solidFill>
                                  <a:srgbClr val="003958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radPr>
                          <m:deg/>
                          <m:e>
                            <m:r>
                              <a:rPr lang="pt-BR" sz="2000" b="0" i="1" smtClean="0">
                                <a:solidFill>
                                  <a:srgbClr val="003958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pt-BR" sz="2000" dirty="0">
                  <a:solidFill>
                    <a:srgbClr val="003958"/>
                  </a:solidFill>
                  <a:ea typeface="Calibri"/>
                  <a:cs typeface="Calibri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/>
                  <a:cs typeface="Calibri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/>
                    <a:cs typeface="Calibri"/>
                  </a:rPr>
                  <a:t>Onde: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  <a:ea typeface="Calibri"/>
                    <a:cs typeface="Calibri"/>
                  </a:rPr>
                  <a:t>s – desvio padrão;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03958"/>
                    </a:solidFill>
                    <a:ea typeface="Calibri"/>
                    <a:cs typeface="Calibri"/>
                  </a:rPr>
                  <a:t>n – tamanho da amostra.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6C275C27-FBE6-8C44-2F84-16390BFD21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290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AB7C-01D1-782A-C9E6-EE802D97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3521C1-E9C9-D626-1A35-555A69B6152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65A29BA-434A-D592-0347-43B8CDE09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O próximo cálculo, depende de uma tabela chamada distribuição t de </a:t>
            </a:r>
            <a:r>
              <a:rPr lang="pt-BR" sz="2000" dirty="0" err="1">
                <a:solidFill>
                  <a:srgbClr val="003958"/>
                </a:solidFill>
              </a:rPr>
              <a:t>Student</a:t>
            </a:r>
            <a:r>
              <a:rPr lang="pt-BR" sz="2000" dirty="0">
                <a:solidFill>
                  <a:srgbClr val="003958"/>
                </a:solidFill>
              </a:rPr>
              <a:t>, tabela essa que se baseia em dois parâmetros, um já comentado, que é o nível de confiança;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O outro é o que chamamos de </a:t>
            </a:r>
            <a:r>
              <a:rPr lang="pt-BR" sz="2000" b="1" dirty="0">
                <a:solidFill>
                  <a:srgbClr val="003958"/>
                </a:solidFill>
                <a:ea typeface="Calibri"/>
                <a:cs typeface="Calibri"/>
              </a:rPr>
              <a:t>graus de liberdade</a:t>
            </a: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, que também precisa de cálculo, mas que é bem simples, para amostras pequenas (menores que 201) utilizaremos a tabela t, e para valores maiores utilizaremos os valores da curva normal;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Para a curva normal seguem os valores:</a:t>
            </a:r>
          </a:p>
          <a:p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algn="ctr"/>
            <a:r>
              <a:rPr lang="pt-BR" sz="2000" dirty="0">
                <a:solidFill>
                  <a:srgbClr val="003958"/>
                </a:solidFill>
              </a:rPr>
              <a:t>Graus de Liberdade ↓ | 90% (</a:t>
            </a:r>
            <a:r>
              <a:rPr lang="el-GR" sz="2000" dirty="0">
                <a:solidFill>
                  <a:srgbClr val="003958"/>
                </a:solidFill>
              </a:rPr>
              <a:t>α=0,10) | 95% (α=0,05) | 99% (α=0,01)</a:t>
            </a:r>
            <a:endParaRPr lang="pt-BR" sz="2000" dirty="0">
              <a:solidFill>
                <a:srgbClr val="003958"/>
              </a:solidFill>
            </a:endParaRPr>
          </a:p>
          <a:p>
            <a:pPr algn="ctr"/>
            <a:r>
              <a:rPr lang="el-GR" sz="2000" dirty="0">
                <a:solidFill>
                  <a:srgbClr val="003958"/>
                </a:solidFill>
              </a:rPr>
              <a:t>∞ (</a:t>
            </a:r>
            <a:r>
              <a:rPr lang="pt-BR" sz="2000" dirty="0">
                <a:solidFill>
                  <a:srgbClr val="003958"/>
                </a:solidFill>
              </a:rPr>
              <a:t>Normal)       | 1,645               | 1,960               | 2,576</a:t>
            </a: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79923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9D07-C6E0-7645-79FA-78685A81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547294-F604-C2B5-279F-1CFDF87B7C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1" y="356058"/>
            <a:ext cx="4505260" cy="118290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849D160-0002-E3AC-64DB-5DDA87D6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115" y="-822707"/>
            <a:ext cx="4737423" cy="761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00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37CC0-F995-538D-E7E3-3BB2303B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201912-63E5-E772-4C8F-AA02A5EBED8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CAC2ED1-FD38-7823-B9E0-1843F8E1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Porém, faltou aqui o cálculo dos graus de liberdade, que pode simplesmente ser estimado, subtraindo uma unidade do total, ficando Graus = N – 1;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A partir disso então, podemos escolher o valor da tabela t, e utilizá-lo para calcular nosso próximo componente, que é a margem de erro que dado pela seguinte fórmula: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algn="ctr"/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ME = t x EP</a:t>
            </a:r>
          </a:p>
          <a:p>
            <a:pPr algn="ctr"/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Onde: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/>
                <a:cs typeface="Calibri"/>
              </a:rPr>
              <a:t>t – valor da tabela 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/>
                <a:cs typeface="Calibri"/>
              </a:rPr>
              <a:t>EP – Erro padrão (calculado anteriormente)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5368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F21C-4F26-BE5B-2729-C321FBCA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478ADE-F977-DFD5-8297-5DB3858BDC3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C6D1902-C3AC-64CC-790B-B2B9129A7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Por fim então chegamos ao nosso intervalo adicionando e subtraindo a margem de erro da média: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 algn="ctr">
              <a:buFontTx/>
              <a:buChar char="-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ME &gt; Média &gt; + ME</a:t>
            </a:r>
          </a:p>
          <a:p>
            <a:pPr marL="342900" indent="-342900" algn="ctr">
              <a:buFontTx/>
              <a:buChar char="-"/>
            </a:pPr>
            <a:endParaRPr lang="pt-BR" sz="20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/>
                <a:cs typeface="Calibri"/>
              </a:rPr>
              <a:t>Vamos para um exemplo então: “Suponha que você queira estimar o intervalo médio de atendimento de um suporte técnico de uma empresa via telefone, mas devido à um problema você não conseguiu medir todos os atendimentos do mês. Então você coleta uma amostra de 25 atendimentos com uma média de 8,4 min, com desvio padrão de 2 min. Qual é o intervalo de confiança com um nível de confiança de 95%?”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Vamos calcular na mão então esse valor e depois no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python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402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A3AB-2289-13A0-0CD7-366C3826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25AF6C-CA05-3D5B-60CF-E44C52115BC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Intervalo de Confiança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6A939AC-B356-CD3C-3FAA-BFD690825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Exercícios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Refaça na mão com o intervalo de confiança em 90% e 99,5% e depois no Python o mesmo exercício. </a:t>
            </a:r>
          </a:p>
        </p:txBody>
      </p:sp>
    </p:spTree>
    <p:extLst>
      <p:ext uri="{BB962C8B-B14F-4D97-AF65-F5344CB8AC3E}">
        <p14:creationId xmlns:p14="http://schemas.microsoft.com/office/powerpoint/2010/main" val="1996749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89A0-EB19-DD1E-4AAD-E5FDC805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16FBBE-67D1-9FC5-2832-4778F120BBC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Aviso Paroquiais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0F6A75E-8D9D-74DE-8D67-DB33F4356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Na semana que vem teremos o evento do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CyberSATC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, que será realizado em um local externo à SATC e vocês estarão liberados para comparecer ao evento;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chamada será cobrada nesse dia com base na inscrição e presença no evento, portanto não será uma “folga”, nós não teremos aula, mas vocês terão o compromisso de ir ao evento;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Para que vocês se comprometam a ir o evento eu farei a minha parte e não passarei um exercício para o dia, mas novamente, a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chamada será cobrada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Eu estarei no evento também, um bom evento a todos e no dia 03/06 teremos mais uma aula de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checkin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(e última) para o projeto de extensão.</a:t>
            </a:r>
          </a:p>
        </p:txBody>
      </p:sp>
    </p:spTree>
    <p:extLst>
      <p:ext uri="{BB962C8B-B14F-4D97-AF65-F5344CB8AC3E}">
        <p14:creationId xmlns:p14="http://schemas.microsoft.com/office/powerpoint/2010/main" val="3885818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6819-A6A3-2EA4-74B7-25D2F7D2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8AD3DF-A349-6E8C-8B84-9FC087D38D4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Aviso Paroquiais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0F774CF-2C71-C52B-C353-13DA386F7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 por fim, no último check-in marquei as equipes que finalizaram da forma correta, para essas equipes a aula se encerrou agora;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Para o restante, o restante da aula será para vocês finalizarem a entrega da semana passada, que para quem não lembra é isso aqui,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para a aula do dia 03/06 isso precisa estar pronto!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3958"/>
                </a:solidFill>
              </a:rPr>
              <a:t>Para a aula do dia 03/06 </a:t>
            </a:r>
            <a:r>
              <a:rPr lang="pt-BR" sz="2000" b="1">
                <a:solidFill>
                  <a:srgbClr val="003958"/>
                </a:solidFill>
              </a:rPr>
              <a:t>isso precisa estar pronto:</a:t>
            </a:r>
            <a:endParaRPr lang="pt-BR" sz="20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Vocês devem pegar a série de vocês e calcular qual seria a amostra indicada para calcular a resposta da pergunta problema de vocês (caso aplicável);</a:t>
            </a:r>
          </a:p>
          <a:p>
            <a:endParaRPr lang="pt-BR" sz="20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devem separar a série de vocês com a variável alvo e as variáveis bem correlacionadas e aplicar o algoritmo OLS, sendo que a variável alvo deve ser a variável a ser prevista.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94837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12232</TotalTime>
  <Words>1193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Impact</vt:lpstr>
      <vt:lpstr>Tema do Office</vt:lpstr>
      <vt:lpstr>Estatística Aplicada – Aula 13</vt:lpstr>
      <vt:lpstr>Intervalo de Confiança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586</cp:revision>
  <dcterms:created xsi:type="dcterms:W3CDTF">2019-02-19T21:17:49Z</dcterms:created>
  <dcterms:modified xsi:type="dcterms:W3CDTF">2026-05-11T04:19:50Z</dcterms:modified>
</cp:coreProperties>
</file>