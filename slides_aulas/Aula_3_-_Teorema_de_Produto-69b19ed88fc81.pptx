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83" r:id="rId3"/>
    <p:sldId id="366" r:id="rId4"/>
    <p:sldId id="353" r:id="rId5"/>
    <p:sldId id="331" r:id="rId6"/>
    <p:sldId id="332" r:id="rId7"/>
    <p:sldId id="333" r:id="rId8"/>
    <p:sldId id="334" r:id="rId9"/>
    <p:sldId id="335" r:id="rId10"/>
    <p:sldId id="354" r:id="rId11"/>
    <p:sldId id="355" r:id="rId12"/>
    <p:sldId id="326" r:id="rId13"/>
    <p:sldId id="314" r:id="rId14"/>
    <p:sldId id="315" r:id="rId15"/>
    <p:sldId id="316" r:id="rId16"/>
    <p:sldId id="317" r:id="rId17"/>
    <p:sldId id="318" r:id="rId18"/>
    <p:sldId id="320" r:id="rId19"/>
    <p:sldId id="321" r:id="rId20"/>
    <p:sldId id="327" r:id="rId21"/>
    <p:sldId id="324" r:id="rId22"/>
    <p:sldId id="325" r:id="rId23"/>
    <p:sldId id="365" r:id="rId24"/>
    <p:sldId id="356" r:id="rId25"/>
    <p:sldId id="357" r:id="rId26"/>
    <p:sldId id="319" r:id="rId27"/>
    <p:sldId id="359" r:id="rId28"/>
    <p:sldId id="360" r:id="rId29"/>
    <p:sldId id="322" r:id="rId30"/>
    <p:sldId id="361" r:id="rId31"/>
    <p:sldId id="362" r:id="rId32"/>
    <p:sldId id="363" r:id="rId33"/>
    <p:sldId id="328" r:id="rId34"/>
    <p:sldId id="323" r:id="rId35"/>
    <p:sldId id="329" r:id="rId36"/>
    <p:sldId id="364" r:id="rId37"/>
    <p:sldId id="262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F0360C-A6BE-4054-82C9-519EABE1FCCA}" v="3" dt="2026-03-11T16:42:43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custSel addSld delSld modSld sldOrd">
      <pc:chgData name="Fabio Bittencourt" userId="9399af9f441dfb25" providerId="LiveId" clId="{87FEEC51-4A4D-4000-AFF7-19B075429E2B}" dt="2026-03-11T16:52:46.705" v="164" actId="20577"/>
      <pc:docMkLst>
        <pc:docMk/>
      </pc:docMkLst>
      <pc:sldChg chg="modSp mod">
        <pc:chgData name="Fabio Bittencourt" userId="9399af9f441dfb25" providerId="LiveId" clId="{87FEEC51-4A4D-4000-AFF7-19B075429E2B}" dt="2026-03-11T16:26:36.075" v="30" actId="1076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3-11T16:26:36.075" v="30" actId="1076"/>
          <ac:spMkLst>
            <pc:docMk/>
            <pc:sldMk cId="1766138550" sldId="256"/>
            <ac:spMk id="2" creationId="{00000000-0000-0000-0000-000000000000}"/>
          </ac:spMkLst>
        </pc:spChg>
      </pc:sldChg>
      <pc:sldChg chg="modSp mod">
        <pc:chgData name="Fabio Bittencourt" userId="9399af9f441dfb25" providerId="LiveId" clId="{87FEEC51-4A4D-4000-AFF7-19B075429E2B}" dt="2026-03-11T16:52:46.705" v="164" actId="20577"/>
        <pc:sldMkLst>
          <pc:docMk/>
          <pc:sldMk cId="3561290430" sldId="283"/>
        </pc:sldMkLst>
        <pc:spChg chg="mod">
          <ac:chgData name="Fabio Bittencourt" userId="9399af9f441dfb25" providerId="LiveId" clId="{87FEEC51-4A4D-4000-AFF7-19B075429E2B}" dt="2026-03-11T16:52:46.705" v="164" actId="20577"/>
          <ac:spMkLst>
            <pc:docMk/>
            <pc:sldMk cId="3561290430" sldId="283"/>
            <ac:spMk id="2" creationId="{45DF7A50-522E-4800-8C58-F91A738D39AB}"/>
          </ac:spMkLst>
        </pc:spChg>
      </pc:sldChg>
      <pc:sldChg chg="del">
        <pc:chgData name="Fabio Bittencourt" userId="9399af9f441dfb25" providerId="LiveId" clId="{87FEEC51-4A4D-4000-AFF7-19B075429E2B}" dt="2026-03-11T16:26:40.764" v="31" actId="47"/>
        <pc:sldMkLst>
          <pc:docMk/>
          <pc:sldMk cId="766776444" sldId="307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74557014" sldId="314"/>
        </pc:sldMkLst>
      </pc:sldChg>
      <pc:sldChg chg="del">
        <pc:chgData name="Fabio Bittencourt" userId="9399af9f441dfb25" providerId="LiveId" clId="{87FEEC51-4A4D-4000-AFF7-19B075429E2B}" dt="2026-03-11T16:27:20.013" v="44" actId="47"/>
        <pc:sldMkLst>
          <pc:docMk/>
          <pc:sldMk cId="1836879436" sldId="314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871548759" sldId="315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561287824" sldId="316"/>
        </pc:sldMkLst>
      </pc:sldChg>
      <pc:sldChg chg="del">
        <pc:chgData name="Fabio Bittencourt" userId="9399af9f441dfb25" providerId="LiveId" clId="{87FEEC51-4A4D-4000-AFF7-19B075429E2B}" dt="2026-03-11T16:27:20.204" v="45" actId="47"/>
        <pc:sldMkLst>
          <pc:docMk/>
          <pc:sldMk cId="2608054803" sldId="316"/>
        </pc:sldMkLst>
      </pc:sldChg>
      <pc:sldChg chg="del">
        <pc:chgData name="Fabio Bittencourt" userId="9399af9f441dfb25" providerId="LiveId" clId="{87FEEC51-4A4D-4000-AFF7-19B075429E2B}" dt="2026-03-11T16:27:15.178" v="33" actId="47"/>
        <pc:sldMkLst>
          <pc:docMk/>
          <pc:sldMk cId="2308273571" sldId="317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3442836887" sldId="317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269525243" sldId="318"/>
        </pc:sldMkLst>
      </pc:sldChg>
      <pc:sldChg chg="del">
        <pc:chgData name="Fabio Bittencourt" userId="9399af9f441dfb25" providerId="LiveId" clId="{87FEEC51-4A4D-4000-AFF7-19B075429E2B}" dt="2026-03-11T16:27:15.632" v="34" actId="47"/>
        <pc:sldMkLst>
          <pc:docMk/>
          <pc:sldMk cId="1454156192" sldId="318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632114479" sldId="319"/>
        </pc:sldMkLst>
      </pc:sldChg>
      <pc:sldChg chg="del">
        <pc:chgData name="Fabio Bittencourt" userId="9399af9f441dfb25" providerId="LiveId" clId="{87FEEC51-4A4D-4000-AFF7-19B075429E2B}" dt="2026-03-11T16:27:16.060" v="35" actId="47"/>
        <pc:sldMkLst>
          <pc:docMk/>
          <pc:sldMk cId="1324128618" sldId="319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1427046756" sldId="320"/>
        </pc:sldMkLst>
      </pc:sldChg>
      <pc:sldChg chg="del">
        <pc:chgData name="Fabio Bittencourt" userId="9399af9f441dfb25" providerId="LiveId" clId="{87FEEC51-4A4D-4000-AFF7-19B075429E2B}" dt="2026-03-11T16:27:16.460" v="36" actId="47"/>
        <pc:sldMkLst>
          <pc:docMk/>
          <pc:sldMk cId="3136952232" sldId="320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1386708093" sldId="321"/>
        </pc:sldMkLst>
      </pc:sldChg>
      <pc:sldChg chg="del">
        <pc:chgData name="Fabio Bittencourt" userId="9399af9f441dfb25" providerId="LiveId" clId="{87FEEC51-4A4D-4000-AFF7-19B075429E2B}" dt="2026-03-11T16:27:16.749" v="37" actId="47"/>
        <pc:sldMkLst>
          <pc:docMk/>
          <pc:sldMk cId="1596113303" sldId="322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3991070401" sldId="322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2281946840" sldId="323"/>
        </pc:sldMkLst>
      </pc:sldChg>
      <pc:sldChg chg="del">
        <pc:chgData name="Fabio Bittencourt" userId="9399af9f441dfb25" providerId="LiveId" clId="{87FEEC51-4A4D-4000-AFF7-19B075429E2B}" dt="2026-03-11T16:27:17.071" v="38" actId="47"/>
        <pc:sldMkLst>
          <pc:docMk/>
          <pc:sldMk cId="4031857761" sldId="323"/>
        </pc:sldMkLst>
      </pc:sldChg>
      <pc:sldChg chg="del">
        <pc:chgData name="Fabio Bittencourt" userId="9399af9f441dfb25" providerId="LiveId" clId="{87FEEC51-4A4D-4000-AFF7-19B075429E2B}" dt="2026-03-11T16:27:17.575" v="39" actId="47"/>
        <pc:sldMkLst>
          <pc:docMk/>
          <pc:sldMk cId="192691947" sldId="324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2670338471" sldId="324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750793393" sldId="325"/>
        </pc:sldMkLst>
      </pc:sldChg>
      <pc:sldChg chg="del">
        <pc:chgData name="Fabio Bittencourt" userId="9399af9f441dfb25" providerId="LiveId" clId="{87FEEC51-4A4D-4000-AFF7-19B075429E2B}" dt="2026-03-11T16:27:18.410" v="41" actId="47"/>
        <pc:sldMkLst>
          <pc:docMk/>
          <pc:sldMk cId="1469694833" sldId="325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2924335306" sldId="326"/>
        </pc:sldMkLst>
      </pc:sldChg>
      <pc:sldChg chg="del">
        <pc:chgData name="Fabio Bittencourt" userId="9399af9f441dfb25" providerId="LiveId" clId="{87FEEC51-4A4D-4000-AFF7-19B075429E2B}" dt="2026-03-11T16:27:18.827" v="42" actId="47"/>
        <pc:sldMkLst>
          <pc:docMk/>
          <pc:sldMk cId="3201928477" sldId="326"/>
        </pc:sldMkLst>
      </pc:sldChg>
      <pc:sldChg chg="add">
        <pc:chgData name="Fabio Bittencourt" userId="9399af9f441dfb25" providerId="LiveId" clId="{87FEEC51-4A4D-4000-AFF7-19B075429E2B}" dt="2026-03-11T16:35:01.959" v="126"/>
        <pc:sldMkLst>
          <pc:docMk/>
          <pc:sldMk cId="1325722288" sldId="327"/>
        </pc:sldMkLst>
      </pc:sldChg>
      <pc:sldChg chg="del">
        <pc:chgData name="Fabio Bittencourt" userId="9399af9f441dfb25" providerId="LiveId" clId="{87FEEC51-4A4D-4000-AFF7-19B075429E2B}" dt="2026-03-11T16:27:19.262" v="43" actId="47"/>
        <pc:sldMkLst>
          <pc:docMk/>
          <pc:sldMk cId="2183667356" sldId="327"/>
        </pc:sldMkLst>
      </pc:sldChg>
      <pc:sldChg chg="del">
        <pc:chgData name="Fabio Bittencourt" userId="9399af9f441dfb25" providerId="LiveId" clId="{87FEEC51-4A4D-4000-AFF7-19B075429E2B}" dt="2026-03-11T16:27:17.950" v="40" actId="47"/>
        <pc:sldMkLst>
          <pc:docMk/>
          <pc:sldMk cId="118820981" sldId="328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2259577138" sldId="328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758967179" sldId="329"/>
        </pc:sldMkLst>
      </pc:sldChg>
      <pc:sldChg chg="del">
        <pc:chgData name="Fabio Bittencourt" userId="9399af9f441dfb25" providerId="LiveId" clId="{87FEEC51-4A4D-4000-AFF7-19B075429E2B}" dt="2026-03-11T16:27:08.035" v="32" actId="47"/>
        <pc:sldMkLst>
          <pc:docMk/>
          <pc:sldMk cId="1619269468" sldId="330"/>
        </pc:sldMkLst>
      </pc:sldChg>
      <pc:sldChg chg="del">
        <pc:chgData name="Fabio Bittencourt" userId="9399af9f441dfb25" providerId="LiveId" clId="{87FEEC51-4A4D-4000-AFF7-19B075429E2B}" dt="2026-03-11T16:30:56.441" v="53" actId="47"/>
        <pc:sldMkLst>
          <pc:docMk/>
          <pc:sldMk cId="2072539844" sldId="336"/>
        </pc:sldMkLst>
      </pc:sldChg>
      <pc:sldChg chg="del">
        <pc:chgData name="Fabio Bittencourt" userId="9399af9f441dfb25" providerId="LiveId" clId="{87FEEC51-4A4D-4000-AFF7-19B075429E2B}" dt="2026-03-11T16:31:20.844" v="55" actId="47"/>
        <pc:sldMkLst>
          <pc:docMk/>
          <pc:sldMk cId="4017058225" sldId="338"/>
        </pc:sldMkLst>
      </pc:sldChg>
      <pc:sldChg chg="del">
        <pc:chgData name="Fabio Bittencourt" userId="9399af9f441dfb25" providerId="LiveId" clId="{87FEEC51-4A4D-4000-AFF7-19B075429E2B}" dt="2026-03-11T16:31:21.663" v="56" actId="47"/>
        <pc:sldMkLst>
          <pc:docMk/>
          <pc:sldMk cId="3889841154" sldId="339"/>
        </pc:sldMkLst>
      </pc:sldChg>
      <pc:sldChg chg="del">
        <pc:chgData name="Fabio Bittencourt" userId="9399af9f441dfb25" providerId="LiveId" clId="{87FEEC51-4A4D-4000-AFF7-19B075429E2B}" dt="2026-03-11T16:31:22.599" v="57" actId="47"/>
        <pc:sldMkLst>
          <pc:docMk/>
          <pc:sldMk cId="2610658922" sldId="340"/>
        </pc:sldMkLst>
      </pc:sldChg>
      <pc:sldChg chg="del">
        <pc:chgData name="Fabio Bittencourt" userId="9399af9f441dfb25" providerId="LiveId" clId="{87FEEC51-4A4D-4000-AFF7-19B075429E2B}" dt="2026-03-11T16:31:23.638" v="58" actId="47"/>
        <pc:sldMkLst>
          <pc:docMk/>
          <pc:sldMk cId="2256655978" sldId="341"/>
        </pc:sldMkLst>
      </pc:sldChg>
      <pc:sldChg chg="del">
        <pc:chgData name="Fabio Bittencourt" userId="9399af9f441dfb25" providerId="LiveId" clId="{87FEEC51-4A4D-4000-AFF7-19B075429E2B}" dt="2026-03-11T16:31:24.438" v="59" actId="47"/>
        <pc:sldMkLst>
          <pc:docMk/>
          <pc:sldMk cId="3118246030" sldId="342"/>
        </pc:sldMkLst>
      </pc:sldChg>
      <pc:sldChg chg="del">
        <pc:chgData name="Fabio Bittencourt" userId="9399af9f441dfb25" providerId="LiveId" clId="{87FEEC51-4A4D-4000-AFF7-19B075429E2B}" dt="2026-03-11T16:27:20.548" v="46" actId="47"/>
        <pc:sldMkLst>
          <pc:docMk/>
          <pc:sldMk cId="2861220988" sldId="346"/>
        </pc:sldMkLst>
      </pc:sldChg>
      <pc:sldChg chg="del">
        <pc:chgData name="Fabio Bittencourt" userId="9399af9f441dfb25" providerId="LiveId" clId="{87FEEC51-4A4D-4000-AFF7-19B075429E2B}" dt="2026-03-11T16:27:21.406" v="47" actId="47"/>
        <pc:sldMkLst>
          <pc:docMk/>
          <pc:sldMk cId="843042211" sldId="347"/>
        </pc:sldMkLst>
      </pc:sldChg>
      <pc:sldChg chg="del">
        <pc:chgData name="Fabio Bittencourt" userId="9399af9f441dfb25" providerId="LiveId" clId="{87FEEC51-4A4D-4000-AFF7-19B075429E2B}" dt="2026-03-11T16:27:21.822" v="48" actId="47"/>
        <pc:sldMkLst>
          <pc:docMk/>
          <pc:sldMk cId="666138979" sldId="348"/>
        </pc:sldMkLst>
      </pc:sldChg>
      <pc:sldChg chg="del">
        <pc:chgData name="Fabio Bittencourt" userId="9399af9f441dfb25" providerId="LiveId" clId="{87FEEC51-4A4D-4000-AFF7-19B075429E2B}" dt="2026-03-11T16:27:22.350" v="49" actId="47"/>
        <pc:sldMkLst>
          <pc:docMk/>
          <pc:sldMk cId="3676955678" sldId="349"/>
        </pc:sldMkLst>
      </pc:sldChg>
      <pc:sldChg chg="del">
        <pc:chgData name="Fabio Bittencourt" userId="9399af9f441dfb25" providerId="LiveId" clId="{87FEEC51-4A4D-4000-AFF7-19B075429E2B}" dt="2026-03-11T16:27:22.882" v="50" actId="47"/>
        <pc:sldMkLst>
          <pc:docMk/>
          <pc:sldMk cId="2059084309" sldId="350"/>
        </pc:sldMkLst>
      </pc:sldChg>
      <pc:sldChg chg="del">
        <pc:chgData name="Fabio Bittencourt" userId="9399af9f441dfb25" providerId="LiveId" clId="{87FEEC51-4A4D-4000-AFF7-19B075429E2B}" dt="2026-03-11T16:27:23.375" v="51" actId="47"/>
        <pc:sldMkLst>
          <pc:docMk/>
          <pc:sldMk cId="1839286351" sldId="351"/>
        </pc:sldMkLst>
      </pc:sldChg>
      <pc:sldChg chg="del">
        <pc:chgData name="Fabio Bittencourt" userId="9399af9f441dfb25" providerId="LiveId" clId="{87FEEC51-4A4D-4000-AFF7-19B075429E2B}" dt="2026-03-11T16:27:24.008" v="52" actId="47"/>
        <pc:sldMkLst>
          <pc:docMk/>
          <pc:sldMk cId="351385272" sldId="352"/>
        </pc:sldMkLst>
      </pc:sldChg>
      <pc:sldChg chg="del">
        <pc:chgData name="Fabio Bittencourt" userId="9399af9f441dfb25" providerId="LiveId" clId="{87FEEC51-4A4D-4000-AFF7-19B075429E2B}" dt="2026-03-11T16:31:14.766" v="54" actId="47"/>
        <pc:sldMkLst>
          <pc:docMk/>
          <pc:sldMk cId="722429561" sldId="355"/>
        </pc:sldMkLst>
      </pc:sldChg>
      <pc:sldChg chg="modSp add mod ord">
        <pc:chgData name="Fabio Bittencourt" userId="9399af9f441dfb25" providerId="LiveId" clId="{87FEEC51-4A4D-4000-AFF7-19B075429E2B}" dt="2026-03-11T16:34:05.273" v="125" actId="20577"/>
        <pc:sldMkLst>
          <pc:docMk/>
          <pc:sldMk cId="1367946799" sldId="355"/>
        </pc:sldMkLst>
        <pc:spChg chg="mod">
          <ac:chgData name="Fabio Bittencourt" userId="9399af9f441dfb25" providerId="LiveId" clId="{87FEEC51-4A4D-4000-AFF7-19B075429E2B}" dt="2026-03-11T16:34:05.273" v="125" actId="20577"/>
          <ac:spMkLst>
            <pc:docMk/>
            <pc:sldMk cId="1367946799" sldId="355"/>
            <ac:spMk id="2" creationId="{8330948F-6193-8F9A-7E60-742E9768C07C}"/>
          </ac:spMkLst>
        </pc:spChg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549479492" sldId="356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2522138004" sldId="357"/>
        </pc:sldMkLst>
      </pc:sldChg>
      <pc:sldChg chg="add del">
        <pc:chgData name="Fabio Bittencourt" userId="9399af9f441dfb25" providerId="LiveId" clId="{87FEEC51-4A4D-4000-AFF7-19B075429E2B}" dt="2026-03-11T16:42:16.224" v="128" actId="47"/>
        <pc:sldMkLst>
          <pc:docMk/>
          <pc:sldMk cId="3366527133" sldId="358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2887932512" sldId="359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2112138212" sldId="360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2563202198" sldId="361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1827449756" sldId="362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3066703435" sldId="363"/>
        </pc:sldMkLst>
      </pc:sldChg>
      <pc:sldChg chg="add">
        <pc:chgData name="Fabio Bittencourt" userId="9399af9f441dfb25" providerId="LiveId" clId="{87FEEC51-4A4D-4000-AFF7-19B075429E2B}" dt="2026-03-11T16:40:48.023" v="127"/>
        <pc:sldMkLst>
          <pc:docMk/>
          <pc:sldMk cId="1719059571" sldId="364"/>
        </pc:sldMkLst>
      </pc:sldChg>
      <pc:sldChg chg="modSp add mod">
        <pc:chgData name="Fabio Bittencourt" userId="9399af9f441dfb25" providerId="LiveId" clId="{87FEEC51-4A4D-4000-AFF7-19B075429E2B}" dt="2026-03-11T16:42:54.331" v="141" actId="20577"/>
        <pc:sldMkLst>
          <pc:docMk/>
          <pc:sldMk cId="1827021509" sldId="365"/>
        </pc:sldMkLst>
        <pc:spChg chg="mod">
          <ac:chgData name="Fabio Bittencourt" userId="9399af9f441dfb25" providerId="LiveId" clId="{87FEEC51-4A4D-4000-AFF7-19B075429E2B}" dt="2026-03-11T16:42:54.331" v="141" actId="20577"/>
          <ac:spMkLst>
            <pc:docMk/>
            <pc:sldMk cId="1827021509" sldId="365"/>
            <ac:spMk id="2" creationId="{AD2FA66D-9575-529B-5EA4-1567ED2A4085}"/>
          </ac:spMkLst>
        </pc:spChg>
      </pc:sldChg>
      <pc:sldChg chg="add">
        <pc:chgData name="Fabio Bittencourt" userId="9399af9f441dfb25" providerId="LiveId" clId="{87FEEC51-4A4D-4000-AFF7-19B075429E2B}" dt="2026-03-11T16:52:35.866" v="142" actId="2890"/>
        <pc:sldMkLst>
          <pc:docMk/>
          <pc:sldMk cId="1292301229" sldId="3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tylervigen.com/spurious-correlations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/>
              <a:t>Estatística Aplicada – Aula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7A50-522E-4800-8C58-F91A738D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Código Aula Anterior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9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88CF-8914-262D-7CD1-B678A90D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E0FD6-023B-0531-4289-9E4BE35F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Normal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301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106"/>
    </mc:Choice>
    <mc:Fallback>
      <p:transition spd="slow" advTm="3410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No século 19 um matemático chamado Karl Gauss popularizou um artifício estatístico chamado de </a:t>
            </a:r>
            <a:r>
              <a:rPr lang="pt-BR" sz="2200" b="1" dirty="0">
                <a:solidFill>
                  <a:srgbClr val="003958"/>
                </a:solidFill>
              </a:rPr>
              <a:t>Distribuição Normal</a:t>
            </a:r>
            <a:r>
              <a:rPr lang="pt-BR" sz="2200" dirty="0">
                <a:solidFill>
                  <a:srgbClr val="003958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modelo do Gauss define que uma distribuição normal perfeita é uma coleção de dados cuja a média seja igual 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Além disso, uma distribuição normal precisa ter uma desvio padrão maior que zero e uma média maior que zero;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Distribuições normais são “previsíveis” ou seja, se a mediana está em cima da média, isso significa que o conjunto de dados é bem conciso, com poucos outliers, ou seja é padronizado, ou melhor, é “normal”.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Bom agora vamos começar a identificar algumas informações que não tínhamos conhecimento até então;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primeira delas é que a nossa curva estatística não é normal, bom mas como a gente consegue ver só de olhar pra ela?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Verifiquem a imagem ao lado, ela é um exemplo perfeito de uma curva normal gaussiana.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5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As curvas normais possuem por característica serem uma </a:t>
            </a:r>
            <a:r>
              <a:rPr lang="pt-BR" sz="2200" dirty="0" err="1">
                <a:solidFill>
                  <a:srgbClr val="003958"/>
                </a:solidFill>
              </a:rPr>
              <a:t>semi-senóide</a:t>
            </a:r>
            <a:r>
              <a:rPr lang="pt-BR" sz="2200" dirty="0">
                <a:solidFill>
                  <a:srgbClr val="003958"/>
                </a:solidFill>
              </a:rPr>
              <a:t> ou se preferirem serem parecidas com um sino;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pico da curva deve estar exatamente sobre a minha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significa que do pico para a direita ou do pico para a esquerda os dados estão divididos exatamente em 50%.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3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Considerando isso como verdade, é estatisticamente provado que podemos identificar o nosso range total de dados utilizando o desvio padrão;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68% dos dados estão à um desvio padrão acima ou abaixo da minha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95% dos dados estão à dois desvios padrões acima ou abaixo da minha mediana.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8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por fim, 99,7% dos meus valores estão à 3 desvios padrões da minha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aqui o que é o perfeito (considerando a normalidade), termos um desvio padrão baixo;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isso os valores serão muito semelhantes o que vai auxiliar demais em nossas futuras predições.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3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Esse não é o nosso caso, nós não temos uma curva normal, o que pode dificultar nossas predições;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Contudo, em aulas futuras nós iremos aprender como normalizar uma curva para que cheguemos ao nosso padrão desejado;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em frente agora, buscando novas características sobre os nossos dados.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7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80057"/>
            <a:ext cx="10415269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questão que pode sempre ajudar à normalizar as nossas distribuições de dados e que eu sempre menciono em sala de aula é a de que nós precisamos sempre tentar aumentar a nossa base de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Seja por pesquisa ou por novas observações, trabalhar em uma base maior traz mais confiança e robustez ao trabalho que se está fazendo;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isso é comprovado matematicamente através da </a:t>
            </a:r>
            <a:r>
              <a:rPr lang="pt-BR" sz="2200" b="1" dirty="0">
                <a:solidFill>
                  <a:srgbClr val="003958"/>
                </a:solidFill>
              </a:rPr>
              <a:t>Teoria do Limite Central</a:t>
            </a:r>
            <a:r>
              <a:rPr lang="pt-BR" sz="2200" dirty="0">
                <a:solidFill>
                  <a:srgbClr val="003958"/>
                </a:solidFill>
              </a:rPr>
              <a:t>, essa teoria diz quanto maior a amostra de um conjunto de dados e mais próximo do tamanho total da população todos os conjuntos se tornam normais;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É claro que em alguns casos isso não é possível e também há conjuntos aleatórios.</a:t>
            </a:r>
          </a:p>
        </p:txBody>
      </p:sp>
    </p:spTree>
    <p:extLst>
      <p:ext uri="{BB962C8B-B14F-4D97-AF65-F5344CB8AC3E}">
        <p14:creationId xmlns:p14="http://schemas.microsoft.com/office/powerpoint/2010/main" val="367644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F859-F098-29E4-6B44-9DD7C22B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0948F-6193-8F9A-7E60-742E9768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46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106"/>
    </mc:Choice>
    <mc:Fallback>
      <p:transition spd="slow" advTm="341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probabilidade é usada para quantificar a chance de uma medida cair dentro de um conjunto de valores.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Geralmente uma variável aleatória é utilizada na probabilidade e já vimos várias probabilidades no nosso dia-a-dia, e geralmente são quantificadas em porcentagem.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chance de um raio atingir a sua cabeça é de: 0,66*10^-8% ou de 1 em 1,5 milhão de acontecer.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chance de você dizer qual lado de um dado será sorteado é de 1 em 6, ou de 16,67%.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433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393"/>
    </mc:Choice>
    <mc:Fallback xmlns="">
      <p:transition spd="slow" advTm="14039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probabilidade de um resultado pode ser interpretada como um </a:t>
            </a:r>
            <a:r>
              <a:rPr lang="pt-BR" sz="2200" b="1" dirty="0">
                <a:solidFill>
                  <a:srgbClr val="003958"/>
                </a:solidFill>
              </a:rPr>
              <a:t>grau de crença</a:t>
            </a:r>
            <a:r>
              <a:rPr lang="pt-BR" sz="2200" dirty="0">
                <a:solidFill>
                  <a:srgbClr val="003958"/>
                </a:solidFill>
              </a:rPr>
              <a:t> de que o resultado ocorrerá.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Imaginem o exemplo do dado, temos uma chance em seis para que o número que escolhemos seja sorteado, porém é garantido que se jogarmos 6 vezes o dado, o nosso número aparecerá um vez?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Portanto, esse exemplo fornece uma interpretação de que a probabilidade é uma </a:t>
            </a:r>
            <a:r>
              <a:rPr lang="pt-BR" sz="2200" b="1" dirty="0">
                <a:solidFill>
                  <a:srgbClr val="003958"/>
                </a:solidFill>
              </a:rPr>
              <a:t>frequência relativa</a:t>
            </a:r>
            <a:r>
              <a:rPr lang="pt-BR" sz="2200" dirty="0">
                <a:solidFill>
                  <a:srgbClr val="003958"/>
                </a:solidFill>
              </a:rPr>
              <a:t>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55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231"/>
    </mc:Choice>
    <mc:Fallback xmlns="">
      <p:transition spd="slow" advTm="12723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Quando temos apenas uma variável aleatória é fácil calcularmos probabilidades, por exemplo, quando estamos dentro da sala de aula, onde temos 21 alunos, a chance aleatória do professor chamar um aluno é de 1/28 ou 3,57%.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Assim como a chance de a chance de você não ser chamada é literalmente o inverso, no caso, 27/28 ou 96,43%.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Claro sempre respeitando a regra de que toda a probabilidade, quando somada todas as possibilidades precisam terminar em 100%. Isso porque, um fato ocorrer, é basicamente como uma variável booleana, ou o fato ocorre ou não ocorre.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Então quando falamos em probabilidades de eventos, partimos sempre do 0 para 1, ou seja de não ocorrer para ocorrer.</a:t>
            </a:r>
          </a:p>
        </p:txBody>
      </p:sp>
    </p:spTree>
    <p:extLst>
      <p:ext uri="{BB962C8B-B14F-4D97-AF65-F5344CB8AC3E}">
        <p14:creationId xmlns:p14="http://schemas.microsoft.com/office/powerpoint/2010/main" val="87154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948"/>
    </mc:Choice>
    <mc:Fallback xmlns="">
      <p:transition spd="slow" advTm="16594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podemos calcular probabilidade em cima de múltiplos eventos que ocorrerão simultaneamente.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 exemplo, considerando que jogaremos uma moeda para o alto, qual a probabilidade de dar cara?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Agora, qual seria a chance de jogarmos 10 vezes a moeda para o alto e todas dar cara?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esse tipo de cálculo é o que damos o nome de distribuição binomial. </a:t>
            </a:r>
          </a:p>
        </p:txBody>
      </p:sp>
    </p:spTree>
    <p:extLst>
      <p:ext uri="{BB962C8B-B14F-4D97-AF65-F5344CB8AC3E}">
        <p14:creationId xmlns:p14="http://schemas.microsoft.com/office/powerpoint/2010/main" val="56128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698"/>
    </mc:Choice>
    <mc:Fallback xmlns="">
      <p:transition spd="slow" advTm="8569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o cálculo da moeda, calcular essa probabilidade é fácil, considerando que a chance de se tirar cara ou coroa é de 1/2.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Então se jogarmos duas vezes a moeda, temos 4 possibilidades: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1ª Cara / 2ª Coroa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1ª Coroa / 2ª Coroa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1ª Coroa / 2ª Cara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1ª Cara / 2ª Cara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isso para a nossa hipótese continuar sendo válida nossa chance ficaria em 1/4. Ou podemos dizer que a chance de sucesso seria 1/2 elevada em potência pela quantidade de vezes que a moeda é jogada.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283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867"/>
    </mc:Choice>
    <mc:Fallback xmlns="">
      <p:transition spd="slow" advTm="9386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 em nosso exemplo a nossa probabilidade seria de 1/2^10, ou 0,097% ou menos de uma chance em mil.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Além disso como temos a nossa possibilidade, podemos também calcular quantas combinações possíveis são existentes, fazendo uma regra de 3 básica: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1 Possibilidade equivalem à 0,097;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Todas as Possibilidades equivalem a 100.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Todas = 100/0,097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Todas = 1030 Combinações Diferentes (Aproximadamente).</a:t>
            </a:r>
          </a:p>
        </p:txBody>
      </p:sp>
    </p:spTree>
    <p:extLst>
      <p:ext uri="{BB962C8B-B14F-4D97-AF65-F5344CB8AC3E}">
        <p14:creationId xmlns:p14="http://schemas.microsoft.com/office/powerpoint/2010/main" val="2695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706"/>
    </mc:Choice>
    <mc:Fallback xmlns="">
      <p:transition spd="slow" advTm="13970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Tudo bem, agora já sabemos calcular probabilidades em cima sobre sorteios e etc...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considerando distribuições e populações como calcularíamos a probabilidade algo acontecer ou não com base nas médias e nos artifícios matemáticos que vimos em aula;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Imaginem o seguinte cenário: Um homem normal bebe cerca de 2L de água (com desvio padrão de 0,7L) por dia. Considerando que você seja um chefe de uma expedição e planeja uma atividade com 50 homens, levando 110 L de Água. Qual a probabilidade de você ficar sem água após um dia de expedição?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0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10"/>
    </mc:Choice>
    <mc:Fallback xmlns="">
      <p:transition spd="slow" advTm="22651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Tabela Z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38967"/>
            <a:ext cx="3945890" cy="48328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antes disso iremos conhecer um artefato estatístico, a tabela Z;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Os valores são relativos a quantidade de desvios padrões calculados;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são calculados pela quantidade da coluna + linha;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Veremos a utilização da tabela mediante ao exemplo.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F22898-EAC6-420F-BC99-9B5558C4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384" y="1188581"/>
            <a:ext cx="5428211" cy="502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0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10"/>
    </mc:Choice>
    <mc:Fallback xmlns="">
      <p:transition spd="slow" advTm="22651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Probabilidade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resolver essa questão passamos por 7 passos: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1 - Achar a quantidade da "População“;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2 - Calcular a média ou usar a média;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3 - Achar ou usar o desvio padrão;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4 - Calcular o DPMA - Desvio Padrão da Média Amostral, DPMA = (DP/N^0.5);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5 - Calcular a Diferença entre a média esperada (valor que vai ultrapassar/atingir), DIF = Média Esperada - Média Atual;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6 - Calculando a Quantidade de Desvio Padrões (Diferença/DPMA);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Passo 7 - Olhando a quantidade de desvio padrões na tabela 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72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10"/>
    </mc:Choice>
    <mc:Fallback xmlns="">
      <p:transition spd="slow" advTm="22651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880057"/>
            <a:ext cx="9537635" cy="4491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200" dirty="0">
                <a:solidFill>
                  <a:srgbClr val="003958"/>
                </a:solidFill>
              </a:rPr>
              <a:t>Será feita uma seletiva onde dentro os 300 alunos do curso de computação apenas 5 serão selecionados aleatoriamente para participarem de um estudo inicial. Então considerando esse cenário, qual a probabilidade do aluno da turma de Data Science ser selecionado para o estudo?  </a:t>
            </a:r>
          </a:p>
          <a:p>
            <a:pPr marL="457200" indent="-457200">
              <a:buFont typeface="+mj-lt"/>
              <a:buAutoNum type="arabicPeriod"/>
            </a:pPr>
            <a:endParaRPr lang="pt-BR" sz="2200" dirty="0">
              <a:solidFill>
                <a:srgbClr val="003958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200" dirty="0">
                <a:solidFill>
                  <a:srgbClr val="003958"/>
                </a:solidFill>
              </a:rPr>
              <a:t>Imagine que você esteja planejando fazer uma festa para o seu aniversário, para a festa você irá convidar 30 pessoas, e nessa festa você irá comprar salgadinhos. Sabendo que você irá comprar 4 centos de salgados, e que a média de uma pessoa é de 13 salgadinhos (com o desvio padrão de 2 salgados). Qual a probabilidade de faltar salgados?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033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10"/>
    </mc:Choice>
    <mc:Fallback xmlns="">
      <p:transition spd="slow" advTm="22651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880057"/>
            <a:ext cx="9537635" cy="4491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pt-BR" sz="2200" dirty="0">
                <a:solidFill>
                  <a:srgbClr val="003958"/>
                </a:solidFill>
              </a:rPr>
              <a:t>Considerando a distribuição da nossa última aula:</a:t>
            </a:r>
          </a:p>
          <a:p>
            <a:pPr marL="457200" indent="-457200">
              <a:buFont typeface="+mj-lt"/>
              <a:buAutoNum type="arabicPeriod" startAt="3"/>
            </a:pPr>
            <a:endParaRPr lang="pt-BR" sz="2200" dirty="0">
              <a:solidFill>
                <a:srgbClr val="003958"/>
              </a:solidFill>
            </a:endParaRPr>
          </a:p>
          <a:p>
            <a:pPr algn="ctr"/>
            <a:r>
              <a:rPr lang="pt-BR" sz="2200" dirty="0">
                <a:solidFill>
                  <a:srgbClr val="003958"/>
                </a:solidFill>
              </a:rPr>
              <a:t>[20, 32, 32, 36, 39, 43, 46, 48, 49, 50, 52, 53, 56, 57, 63, 64, 65, 74, 75, 90]</a:t>
            </a:r>
          </a:p>
          <a:p>
            <a:pPr marL="457200" indent="-457200">
              <a:buFont typeface="+mj-lt"/>
              <a:buAutoNum type="arabicPeriod" startAt="3"/>
            </a:pPr>
            <a:endParaRPr lang="pt-BR" sz="2200" dirty="0">
              <a:solidFill>
                <a:srgbClr val="003958"/>
              </a:solidFill>
            </a:endParaRPr>
          </a:p>
          <a:p>
            <a:r>
              <a:rPr lang="pt-BR" sz="2200" dirty="0">
                <a:solidFill>
                  <a:srgbClr val="003958"/>
                </a:solidFill>
              </a:rPr>
              <a:t>Considere que você irá continuar a coletar novos dados, qual seria a chance de que após essa nova coleta a nova média fosse maior que 60?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07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10"/>
    </mc:Choice>
    <mc:Fallback xmlns="">
      <p:transition spd="slow" advTm="22651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2A0B-B007-C686-466C-8967F35A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FA66D-9575-529B-5EA4-1567ED2A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Correlação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21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106"/>
    </mc:Choice>
    <mc:Fallback>
      <p:transition spd="slow" advTm="3410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Estatisticamente falando, a correlação é definida somente entre duas variáveis aleatórias.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Sendo que, a correlação relaciona como duas variáveis estão relacionadas, em nosso dia-a-dia já vimos várias brincadeiras que utilizam o conceito de correlação, por exemplo: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Todo mundo que morreu já bebeu água, portanto água mata.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Ou seja, o cálculo da correlação busca encontrar se uma variável afeta diretamente outra ou o modelo como um todo.</a:t>
            </a:r>
          </a:p>
        </p:txBody>
      </p:sp>
    </p:spTree>
    <p:extLst>
      <p:ext uri="{BB962C8B-B14F-4D97-AF65-F5344CB8AC3E}">
        <p14:creationId xmlns:p14="http://schemas.microsoft.com/office/powerpoint/2010/main" val="54947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algo muito importante que precisa ser observado é que: “</a:t>
            </a:r>
            <a:r>
              <a:rPr lang="pt-BR" sz="2200" b="1" dirty="0">
                <a:solidFill>
                  <a:srgbClr val="003958"/>
                </a:solidFill>
              </a:rPr>
              <a:t>Correlação não implica em causalidade</a:t>
            </a:r>
            <a:r>
              <a:rPr lang="pt-BR" sz="2200" dirty="0">
                <a:solidFill>
                  <a:srgbClr val="003958"/>
                </a:solidFill>
              </a:rPr>
              <a:t>”. Ou seja, não é porque algo está altamente correlacionado que ele é causa do fenômeno.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 exemplo, no caso da água e morte, se retirássemos do estudo o consumo de água das pessoas, isso significaria que elas deixariam de morrer? Não né, como serem mortais iríamos acabar morrendo de um modo ou de outro.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outra questão sobre causalidade é que, a causalidade imposta por um fenômeno não necessariamente se aplica caso o fenômeno fosse visto ao contrário.</a:t>
            </a:r>
          </a:p>
        </p:txBody>
      </p:sp>
    </p:spTree>
    <p:extLst>
      <p:ext uri="{BB962C8B-B14F-4D97-AF65-F5344CB8AC3E}">
        <p14:creationId xmlns:p14="http://schemas.microsoft.com/office/powerpoint/2010/main" val="252213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Exemplo, quando a temperatura em nossa cidade está mais alta, o consumo de sorvete sobe, correto?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Então caso correlacionemos o aumento da temperatura com o consumo de sorvete, podemos dizer que quando a temperatura sobe a probabilidade de termos mais vendas de sorvete é verdadeira, correto?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Agora, se pegamos o exemplo contrário, é possível dizer que se forem vendidos mais sorvetes a temperatura irá subir?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Isso significa que na observação da correlação precisamos sempre observar qual é o efeito e qual é a causa, para que assim não façamos observações erradas.</a:t>
            </a:r>
          </a:p>
        </p:txBody>
      </p:sp>
    </p:spTree>
    <p:extLst>
      <p:ext uri="{BB962C8B-B14F-4D97-AF65-F5344CB8AC3E}">
        <p14:creationId xmlns:p14="http://schemas.microsoft.com/office/powerpoint/2010/main" val="63211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CBF46E-21F7-43F7-AEC8-996719BE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1797627"/>
            <a:ext cx="90582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3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Os exemplos anteriormente mostrados são do site </a:t>
            </a:r>
            <a:r>
              <a:rPr lang="pt-BR" sz="2200" dirty="0" err="1">
                <a:solidFill>
                  <a:srgbClr val="003958"/>
                </a:solidFill>
              </a:rPr>
              <a:t>Spurious</a:t>
            </a:r>
            <a:r>
              <a:rPr lang="pt-BR" sz="2200" dirty="0">
                <a:solidFill>
                  <a:srgbClr val="003958"/>
                </a:solidFill>
              </a:rPr>
              <a:t> </a:t>
            </a:r>
            <a:r>
              <a:rPr lang="pt-BR" sz="2200" dirty="0" err="1">
                <a:solidFill>
                  <a:srgbClr val="003958"/>
                </a:solidFill>
              </a:rPr>
              <a:t>Correlations</a:t>
            </a:r>
            <a:r>
              <a:rPr lang="pt-BR" sz="2200" dirty="0">
                <a:solidFill>
                  <a:srgbClr val="003958"/>
                </a:solidFill>
              </a:rPr>
              <a:t>, que pode ser acessados pelo link: </a:t>
            </a:r>
            <a:r>
              <a:rPr lang="pt-BR" sz="2200" dirty="0">
                <a:hlinkClick r:id="rId2"/>
              </a:rPr>
              <a:t>http://tylervigen.com/spurious-correlations</a:t>
            </a: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Esses casos que são todos reais, mostra de forma absurda, mas extremamente visual que o fato de dados serem correlacionados não necessariamente indica causalidade;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como provamos a causalidade então? Bom, como engenheiros em formação vocês já devem imaginar a resposta: Experimentando;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Contudo a correlação nos dá uma grande ajuda para o descarte de informações dentro de um contexto de estudo.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213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Agora uma correlação real, mas que parece um pouco absurda, mas que é comprovada cientificamente: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frequência com que um grilo </a:t>
            </a:r>
            <a:r>
              <a:rPr lang="pt-BR" sz="2200" dirty="0" err="1">
                <a:solidFill>
                  <a:srgbClr val="003958"/>
                </a:solidFill>
              </a:rPr>
              <a:t>crila</a:t>
            </a:r>
            <a:r>
              <a:rPr lang="pt-BR" sz="2200" dirty="0">
                <a:solidFill>
                  <a:srgbClr val="003958"/>
                </a:solidFill>
              </a:rPr>
              <a:t> (faz barulho) está diretamente relacionada à temperatura, quando está mais quente eles faz barulhos mais frequentes do que quando está frio.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Certo, mas então como é seguro afirmar uma correlação sem ser “iludido” pelos dados. Bom, praticamente apenas reproduzindo o resultado, geralmente através de experimentos que vão verificar se a correlação implica ou não causalidade.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107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Imaginemos o seguinte cenário, eu possuo cinco variáveis que eu imagino que estejam diretamente relacionadas ao meu fenômeno, como no exemplo abaixo;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Imaginem que eu quero modelar uma fórmula para calcular o tempo de trânsito entre a minha casa e a faculdade, e para isso inclui cinco variáveis que eu acredito que possuem um impacto significativo nesse tempo;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São elas: Quantidade de Faróis, Hora do Dia, Clima, Combustível e Transporte;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Então durante um tempo eu calculo quanto tempo eu levo da minha casa até a faculdade, sempre em diversos fatores diferentes.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320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os dados do meu experimento todos em mãos eu aplico a correlação individualmente entre o tempo total e as variáveis em questão;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Ao fim do cálculo então eu tenho uma tabela de correlação entre o tempo total e cada uma das variáveis;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As variáveis que tiverem a correlação mais fraca portanto podem ser retiradas da modelagem, pois elas são as que surtem menos impacto no total do fenômeno (considerando um caso bem analisado);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Inclusive as correlações podem possuir valores negativos, o que indicaria que o alto valor de uma variável impactaria na redução do valor final.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44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correlação possui algumas escalas mais utilizadas na literatura, sendo a mais famosa a de Pearson, e o seu cálculo sempre apresentará valores em uma escala de -1 a 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que significa que 1 é positivamente correlacionado e -1 é negativamente correlacionado.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o cálculo da correlação, a fórmula segue abaixo: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8E43E25-A518-49F8-B8CE-5E047810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0" y="4250405"/>
            <a:ext cx="312420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880057"/>
            <a:ext cx="7623993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à um exemplo: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Ao lado temos uma tabela com 20 times que fizeram uma determinada quantidade de gols em um campeonato, ao lado da quantidade de gols, está a posição em que cada time chegou neste campeonato;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calcular qual o grau de influência (correlação), entre as posições e a quantidade de gols marcados, dessa vez utilizando o </a:t>
            </a:r>
            <a:r>
              <a:rPr lang="pt-BR" sz="2200" dirty="0" err="1">
                <a:solidFill>
                  <a:srgbClr val="003958"/>
                </a:solidFill>
              </a:rPr>
              <a:t>excel</a:t>
            </a:r>
            <a:r>
              <a:rPr lang="pt-BR" sz="2200" dirty="0">
                <a:solidFill>
                  <a:srgbClr val="003958"/>
                </a:solidFill>
              </a:rPr>
              <a:t> para realizarmos os cálculos de uma maneira mais rápida.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987DDB9-6C46-44BC-BFD6-AE22DB5840E9}"/>
              </a:ext>
            </a:extLst>
          </p:cNvPr>
          <p:cNvGraphicFramePr>
            <a:graphicFrameLocks noGrp="1"/>
          </p:cNvGraphicFramePr>
          <p:nvPr/>
        </p:nvGraphicFramePr>
        <p:xfrm>
          <a:off x="8810395" y="768667"/>
          <a:ext cx="2124698" cy="5320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8278">
                  <a:extLst>
                    <a:ext uri="{9D8B030D-6E8A-4147-A177-3AD203B41FA5}">
                      <a16:colId xmlns:a16="http://schemas.microsoft.com/office/drawing/2014/main" val="2973389729"/>
                    </a:ext>
                  </a:extLst>
                </a:gridCol>
                <a:gridCol w="1146420">
                  <a:extLst>
                    <a:ext uri="{9D8B030D-6E8A-4147-A177-3AD203B41FA5}">
                      <a16:colId xmlns:a16="http://schemas.microsoft.com/office/drawing/2014/main" val="506776049"/>
                    </a:ext>
                  </a:extLst>
                </a:gridCol>
              </a:tblGrid>
              <a:tr h="209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Posição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err="1">
                          <a:effectLst/>
                        </a:rPr>
                        <a:t>Gols</a:t>
                      </a: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 err="1">
                          <a:effectLst/>
                        </a:rPr>
                        <a:t>Feitos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0708464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1º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86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0597524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2º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60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5755857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3º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61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3015101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4º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64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0218196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5º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51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0280761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6º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8560526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7º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44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8473268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8º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42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348721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9º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3488815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10º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46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1542528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11º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44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363922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12º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341276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13º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44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5218550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14º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5569093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15º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1306720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16º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14729697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17º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27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3508746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18º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24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030704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19º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31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0416637"/>
                  </a:ext>
                </a:extLst>
              </a:tr>
              <a:tr h="209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20º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18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195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57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Correlação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Complexo né? Bom ainda bem que temos o </a:t>
            </a:r>
            <a:r>
              <a:rPr lang="pt-BR" dirty="0" err="1">
                <a:solidFill>
                  <a:srgbClr val="003958"/>
                </a:solidFill>
              </a:rPr>
              <a:t>python</a:t>
            </a:r>
            <a:r>
              <a:rPr lang="pt-BR" dirty="0">
                <a:solidFill>
                  <a:srgbClr val="003958"/>
                </a:solidFill>
              </a:rPr>
              <a:t> que resolve o cálculo em apenas uma linha, vamos ver um exemplo bem claro de um cálculo de correlação;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Em modelos onde iremos fazer análise de comportamento é natural que levantemos uma quantidade grande de variáveis que acreditamos que podem influenciar no nosso fenômeno;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E o objeto </a:t>
            </a:r>
            <a:r>
              <a:rPr lang="pt-BR" dirty="0" err="1">
                <a:solidFill>
                  <a:srgbClr val="003958"/>
                </a:solidFill>
              </a:rPr>
              <a:t>DataFrame</a:t>
            </a:r>
            <a:r>
              <a:rPr lang="pt-BR" dirty="0">
                <a:solidFill>
                  <a:srgbClr val="003958"/>
                </a:solidFill>
              </a:rPr>
              <a:t> é perfeito pra isso, porque a medida que tenhamos a distribuição pronta ele consegue calcular a correlação entre todos os seus componentes utilizando a mesma função;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Veremos como com um exemplo utilizando dados do campeonato brasileiro de futebol de 2018.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194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Exercícios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Considerando os dados da distribuição do slide 7 repita o exercício de cálculo de correlação na mão e depois refaça o processo no Python;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Considerando o exercício onde utilizamos o </a:t>
            </a:r>
            <a:r>
              <a:rPr lang="pt-BR" sz="2200" dirty="0" err="1">
                <a:solidFill>
                  <a:srgbClr val="003958"/>
                </a:solidFill>
              </a:rPr>
              <a:t>dataset</a:t>
            </a:r>
            <a:r>
              <a:rPr lang="pt-BR" sz="2200" dirty="0">
                <a:solidFill>
                  <a:srgbClr val="003958"/>
                </a:solidFill>
              </a:rPr>
              <a:t> do campeonato brasileiro de 2018 (slide 19), realize uma pesquisa e adicione ao </a:t>
            </a:r>
            <a:r>
              <a:rPr lang="pt-BR" sz="2200" dirty="0" err="1">
                <a:solidFill>
                  <a:srgbClr val="003958"/>
                </a:solidFill>
              </a:rPr>
              <a:t>dataset</a:t>
            </a:r>
            <a:r>
              <a:rPr lang="pt-BR" sz="2200" dirty="0">
                <a:solidFill>
                  <a:srgbClr val="003958"/>
                </a:solidFill>
              </a:rPr>
              <a:t> uma coluna de </a:t>
            </a:r>
            <a:r>
              <a:rPr lang="pt-BR" sz="2200" b="1" dirty="0">
                <a:solidFill>
                  <a:srgbClr val="003958"/>
                </a:solidFill>
              </a:rPr>
              <a:t>Vitórias</a:t>
            </a:r>
            <a:r>
              <a:rPr lang="pt-BR" sz="2200" dirty="0">
                <a:solidFill>
                  <a:srgbClr val="003958"/>
                </a:solidFill>
              </a:rPr>
              <a:t>, faça então a correlação entre </a:t>
            </a:r>
            <a:r>
              <a:rPr lang="pt-BR" sz="2200" b="1" dirty="0">
                <a:solidFill>
                  <a:srgbClr val="003958"/>
                </a:solidFill>
              </a:rPr>
              <a:t>Gols Feitos</a:t>
            </a:r>
            <a:r>
              <a:rPr lang="pt-BR" sz="2200" dirty="0">
                <a:solidFill>
                  <a:srgbClr val="003958"/>
                </a:solidFill>
              </a:rPr>
              <a:t> e </a:t>
            </a:r>
            <a:r>
              <a:rPr lang="pt-BR" sz="2200" b="1" dirty="0">
                <a:solidFill>
                  <a:srgbClr val="003958"/>
                </a:solidFill>
              </a:rPr>
              <a:t>Vitórias</a:t>
            </a:r>
            <a:r>
              <a:rPr lang="pt-BR" sz="2200" dirty="0">
                <a:solidFill>
                  <a:srgbClr val="003958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Seguindo nesse </a:t>
            </a:r>
            <a:r>
              <a:rPr lang="pt-BR" sz="2200" dirty="0" err="1">
                <a:solidFill>
                  <a:srgbClr val="003958"/>
                </a:solidFill>
              </a:rPr>
              <a:t>dataset</a:t>
            </a:r>
            <a:r>
              <a:rPr lang="pt-BR" sz="2200" dirty="0">
                <a:solidFill>
                  <a:srgbClr val="003958"/>
                </a:solidFill>
              </a:rPr>
              <a:t> colete as informações dos anos de 2017 e 2019, para as colunas </a:t>
            </a:r>
            <a:r>
              <a:rPr lang="pt-BR" sz="2200" b="1" dirty="0">
                <a:solidFill>
                  <a:srgbClr val="003958"/>
                </a:solidFill>
              </a:rPr>
              <a:t>Posição</a:t>
            </a:r>
            <a:r>
              <a:rPr lang="pt-BR" sz="2200" dirty="0">
                <a:solidFill>
                  <a:srgbClr val="003958"/>
                </a:solidFill>
              </a:rPr>
              <a:t>, </a:t>
            </a:r>
            <a:r>
              <a:rPr lang="pt-BR" sz="2200" b="1" dirty="0">
                <a:solidFill>
                  <a:srgbClr val="003958"/>
                </a:solidFill>
              </a:rPr>
              <a:t>Gols Feitos</a:t>
            </a:r>
            <a:r>
              <a:rPr lang="pt-BR" sz="2200" dirty="0">
                <a:solidFill>
                  <a:srgbClr val="003958"/>
                </a:solidFill>
              </a:rPr>
              <a:t> e </a:t>
            </a:r>
            <a:r>
              <a:rPr lang="pt-BR" sz="2200" b="1" dirty="0">
                <a:solidFill>
                  <a:srgbClr val="003958"/>
                </a:solidFill>
              </a:rPr>
              <a:t>Vitórias</a:t>
            </a:r>
            <a:r>
              <a:rPr lang="pt-BR" sz="2200" dirty="0">
                <a:solidFill>
                  <a:srgbClr val="003958"/>
                </a:solidFill>
              </a:rPr>
              <a:t>. Após isso, importe os dados e refaça o processo de cálculo de correlação, verifique se os coeficientes continuam os mesmos.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896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MONTGOMERY, Douglas G.; RUNGER, George C.; HUBELE, Norma F.. </a:t>
            </a:r>
            <a:r>
              <a:rPr lang="pt-BR" b="1" dirty="0">
                <a:solidFill>
                  <a:srgbClr val="003958"/>
                </a:solidFill>
              </a:rPr>
              <a:t>Estatística Aplicada à Engenharia. </a:t>
            </a:r>
            <a:r>
              <a:rPr lang="pt-BR" dirty="0">
                <a:solidFill>
                  <a:srgbClr val="003958"/>
                </a:solidFill>
              </a:rPr>
              <a:t>2. ed. Rio de Janeiro: </a:t>
            </a:r>
            <a:r>
              <a:rPr lang="pt-BR" dirty="0" err="1">
                <a:solidFill>
                  <a:srgbClr val="003958"/>
                </a:solidFill>
              </a:rPr>
              <a:t>Ltc</a:t>
            </a:r>
            <a:r>
              <a:rPr lang="pt-BR" dirty="0">
                <a:solidFill>
                  <a:srgbClr val="003958"/>
                </a:solidFill>
              </a:rPr>
              <a:t>, 2004.</a:t>
            </a:r>
          </a:p>
          <a:p>
            <a:pPr marL="342900" indent="-342900">
              <a:buFontTx/>
              <a:buChar char="-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VIGEN, Tyler. </a:t>
            </a:r>
            <a:r>
              <a:rPr lang="pt-BR" b="1" dirty="0" err="1">
                <a:solidFill>
                  <a:srgbClr val="003958"/>
                </a:solidFill>
              </a:rPr>
              <a:t>Spurious</a:t>
            </a:r>
            <a:r>
              <a:rPr lang="pt-BR" b="1" dirty="0">
                <a:solidFill>
                  <a:srgbClr val="003958"/>
                </a:solidFill>
              </a:rPr>
              <a:t> </a:t>
            </a:r>
            <a:r>
              <a:rPr lang="pt-BR" b="1" dirty="0" err="1">
                <a:solidFill>
                  <a:srgbClr val="003958"/>
                </a:solidFill>
              </a:rPr>
              <a:t>Correlations</a:t>
            </a:r>
            <a:r>
              <a:rPr lang="pt-BR" b="1" dirty="0">
                <a:solidFill>
                  <a:srgbClr val="003958"/>
                </a:solidFill>
              </a:rPr>
              <a:t>. </a:t>
            </a:r>
            <a:r>
              <a:rPr lang="pt-BR" dirty="0">
                <a:solidFill>
                  <a:srgbClr val="003958"/>
                </a:solidFill>
              </a:rPr>
              <a:t>Disponível em: tylervigen.com. Acesso em: 24 mar. 2020.</a:t>
            </a:r>
          </a:p>
          <a:p>
            <a:pPr marL="342900" indent="-342900">
              <a:buFontTx/>
              <a:buChar char="-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TEAM, </a:t>
            </a:r>
            <a:r>
              <a:rPr lang="pt-BR" dirty="0" err="1">
                <a:solidFill>
                  <a:srgbClr val="003958"/>
                </a:solidFill>
              </a:rPr>
              <a:t>Bravi</a:t>
            </a:r>
            <a:r>
              <a:rPr lang="pt-BR" dirty="0">
                <a:solidFill>
                  <a:srgbClr val="003958"/>
                </a:solidFill>
              </a:rPr>
              <a:t>. </a:t>
            </a:r>
            <a:r>
              <a:rPr lang="pt-BR" b="1" dirty="0">
                <a:solidFill>
                  <a:srgbClr val="003958"/>
                </a:solidFill>
              </a:rPr>
              <a:t>Experimentos de design e análise de dados: o que você precisa saber sobre correlação e causalidade. </a:t>
            </a:r>
            <a:r>
              <a:rPr lang="pt-BR" dirty="0">
                <a:solidFill>
                  <a:srgbClr val="003958"/>
                </a:solidFill>
              </a:rPr>
              <a:t>o que você precisa saber sobre correlação e causalidade. 2017. Disponível em: http://blog.bravi.com.br/</a:t>
            </a:r>
            <a:r>
              <a:rPr lang="pt-BR" dirty="0" err="1">
                <a:solidFill>
                  <a:srgbClr val="003958"/>
                </a:solidFill>
              </a:rPr>
              <a:t>correlacao</a:t>
            </a:r>
            <a:r>
              <a:rPr lang="pt-BR" dirty="0">
                <a:solidFill>
                  <a:srgbClr val="003958"/>
                </a:solidFill>
              </a:rPr>
              <a:t>-e-causalidade/. Acesso em: 24 mar. 2020.</a:t>
            </a:r>
          </a:p>
          <a:p>
            <a:pPr marL="342900" indent="-342900">
              <a:buFontTx/>
              <a:buChar char="-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3958"/>
                </a:solidFill>
              </a:rPr>
              <a:t>M., Prof. </a:t>
            </a:r>
            <a:r>
              <a:rPr lang="pt-BR" b="1" dirty="0">
                <a:solidFill>
                  <a:srgbClr val="003958"/>
                </a:solidFill>
              </a:rPr>
              <a:t>O que é correlação e causalidade?: conheça rapidamente os conceitos de correlação e causalidade.. </a:t>
            </a:r>
            <a:r>
              <a:rPr lang="pt-BR" dirty="0">
                <a:solidFill>
                  <a:srgbClr val="003958"/>
                </a:solidFill>
              </a:rPr>
              <a:t>Conheça rapidamente os conceitos de correlação e causalidade.. 2018. Disponível em: https://profes.com.br/</a:t>
            </a:r>
            <a:r>
              <a:rPr lang="pt-BR" dirty="0" err="1">
                <a:solidFill>
                  <a:srgbClr val="003958"/>
                </a:solidFill>
              </a:rPr>
              <a:t>aulasdeestatistica</a:t>
            </a:r>
            <a:r>
              <a:rPr lang="pt-BR" dirty="0">
                <a:solidFill>
                  <a:srgbClr val="003958"/>
                </a:solidFill>
              </a:rPr>
              <a:t>/blog/o-que-e-</a:t>
            </a:r>
            <a:r>
              <a:rPr lang="pt-BR" dirty="0" err="1">
                <a:solidFill>
                  <a:srgbClr val="003958"/>
                </a:solidFill>
              </a:rPr>
              <a:t>correlacao</a:t>
            </a:r>
            <a:r>
              <a:rPr lang="pt-BR" dirty="0">
                <a:solidFill>
                  <a:srgbClr val="003958"/>
                </a:solidFill>
              </a:rPr>
              <a:t>-e-causalidade. Acesso em: 24 mar. 2020.</a:t>
            </a:r>
            <a:endParaRPr lang="en-US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05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18"/>
    </mc:Choice>
    <mc:Fallback xmlns="">
      <p:transition spd="slow" advTm="63218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003958"/>
                </a:solidFill>
              </a:rPr>
              <a:t>VANDERPLAS, Jake. </a:t>
            </a:r>
            <a:r>
              <a:rPr lang="en-US" b="1" dirty="0">
                <a:solidFill>
                  <a:srgbClr val="003958"/>
                </a:solidFill>
              </a:rPr>
              <a:t>Python data science handbook</a:t>
            </a:r>
            <a:r>
              <a:rPr lang="en-US" dirty="0">
                <a:solidFill>
                  <a:srgbClr val="003958"/>
                </a:solidFill>
              </a:rPr>
              <a:t>: essential tools for working with data. Sebastopol, CA: </a:t>
            </a:r>
            <a:r>
              <a:rPr lang="en-US" dirty="0" err="1">
                <a:solidFill>
                  <a:srgbClr val="003958"/>
                </a:solidFill>
              </a:rPr>
              <a:t>OReilly</a:t>
            </a:r>
            <a:r>
              <a:rPr lang="en-US" dirty="0">
                <a:solidFill>
                  <a:srgbClr val="003958"/>
                </a:solidFill>
              </a:rPr>
              <a:t>, 2017. xvi, 529 p. ISBN9781491912058.</a:t>
            </a:r>
          </a:p>
        </p:txBody>
      </p:sp>
    </p:spTree>
    <p:extLst>
      <p:ext uri="{BB962C8B-B14F-4D97-AF65-F5344CB8AC3E}">
        <p14:creationId xmlns:p14="http://schemas.microsoft.com/office/powerpoint/2010/main" val="266498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18"/>
    </mc:Choice>
    <mc:Fallback xmlns="">
      <p:transition spd="slow" advTm="63218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11263</TotalTime>
  <Words>2799</Words>
  <Application>Microsoft Office PowerPoint</Application>
  <PresentationFormat>Widescreen</PresentationFormat>
  <Paragraphs>273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Impact</vt:lpstr>
      <vt:lpstr>Tema do Office</vt:lpstr>
      <vt:lpstr>Estatística Aplicada – Aula 3</vt:lpstr>
      <vt:lpstr>Código Aula Anterior</vt:lpstr>
      <vt:lpstr>Distribuição Normal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Probabilidade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Correlação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161</cp:revision>
  <dcterms:created xsi:type="dcterms:W3CDTF">2019-02-19T21:17:49Z</dcterms:created>
  <dcterms:modified xsi:type="dcterms:W3CDTF">2026-03-11T16:52:55Z</dcterms:modified>
</cp:coreProperties>
</file>