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358" r:id="rId3"/>
    <p:sldId id="385" r:id="rId4"/>
    <p:sldId id="386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9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62" autoAdjust="0"/>
    <p:restoredTop sz="94660"/>
  </p:normalViewPr>
  <p:slideViewPr>
    <p:cSldViewPr snapToGrid="0">
      <p:cViewPr varScale="1">
        <p:scale>
          <a:sx n="82" d="100"/>
          <a:sy n="82" d="100"/>
        </p:scale>
        <p:origin x="629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bio Bittencourt" userId="9399af9f441dfb25" providerId="LiveId" clId="{87FEEC51-4A4D-4000-AFF7-19B075429E2B}"/>
    <pc:docChg chg="undo redo custSel addSld delSld modSld sldOrd">
      <pc:chgData name="Fabio Bittencourt" userId="9399af9f441dfb25" providerId="LiveId" clId="{87FEEC51-4A4D-4000-AFF7-19B075429E2B}" dt="2026-05-20T23:34:55.648" v="24087" actId="113"/>
      <pc:docMkLst>
        <pc:docMk/>
      </pc:docMkLst>
      <pc:sldChg chg="modSp add del mod">
        <pc:chgData name="Fabio Bittencourt" userId="9399af9f441dfb25" providerId="LiveId" clId="{87FEEC51-4A4D-4000-AFF7-19B075429E2B}" dt="2026-05-20T22:55:10.667" v="22835" actId="20577"/>
        <pc:sldMkLst>
          <pc:docMk/>
          <pc:sldMk cId="1766138550" sldId="256"/>
        </pc:sldMkLst>
        <pc:spChg chg="mod">
          <ac:chgData name="Fabio Bittencourt" userId="9399af9f441dfb25" providerId="LiveId" clId="{87FEEC51-4A4D-4000-AFF7-19B075429E2B}" dt="2026-05-20T22:55:10.667" v="22835" actId="20577"/>
          <ac:spMkLst>
            <pc:docMk/>
            <pc:sldMk cId="1766138550" sldId="256"/>
            <ac:spMk id="2" creationId="{00000000-0000-0000-0000-000000000000}"/>
          </ac:spMkLst>
        </pc:spChg>
      </pc:sldChg>
      <pc:sldChg chg="modSp add mod ord">
        <pc:chgData name="Fabio Bittencourt" userId="9399af9f441dfb25" providerId="LiveId" clId="{87FEEC51-4A4D-4000-AFF7-19B075429E2B}" dt="2026-05-20T23:34:55.648" v="24087" actId="113"/>
        <pc:sldMkLst>
          <pc:docMk/>
          <pc:sldMk cId="1624693146" sldId="385"/>
        </pc:sldMkLst>
        <pc:spChg chg="mod">
          <ac:chgData name="Fabio Bittencourt" userId="9399af9f441dfb25" providerId="LiveId" clId="{87FEEC51-4A4D-4000-AFF7-19B075429E2B}" dt="2026-05-20T23:34:55.648" v="24087" actId="113"/>
          <ac:spMkLst>
            <pc:docMk/>
            <pc:sldMk cId="1624693146" sldId="385"/>
            <ac:spMk id="6" creationId="{23BCCD4D-49FC-EF9E-7536-151959D3C66E}"/>
          </ac:spMkLst>
        </pc:spChg>
      </pc:sldChg>
      <pc:sldChg chg="add">
        <pc:chgData name="Fabio Bittencourt" userId="9399af9f441dfb25" providerId="LiveId" clId="{87FEEC51-4A4D-4000-AFF7-19B075429E2B}" dt="2026-05-20T23:28:47.403" v="23370" actId="2890"/>
        <pc:sldMkLst>
          <pc:docMk/>
          <pc:sldMk cId="1878619146" sldId="386"/>
        </pc:sldMkLst>
      </pc:sldChg>
      <pc:sldChg chg="modSp add del mod">
        <pc:chgData name="Fabio Bittencourt" userId="9399af9f441dfb25" providerId="LiveId" clId="{87FEEC51-4A4D-4000-AFF7-19B075429E2B}" dt="2026-05-20T22:59:37.699" v="23363" actId="47"/>
        <pc:sldMkLst>
          <pc:docMk/>
          <pc:sldMk cId="4104329185" sldId="38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9ED787-ECF9-4317-9B3F-01368C487912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B9BCC3-7EAB-4662-B118-F1D740721A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5539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22658" y="-10003"/>
            <a:ext cx="6669342" cy="6868003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8DBC2051-7AF2-4D6F-9135-589CE4137C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88" r="11351"/>
          <a:stretch/>
        </p:blipFill>
        <p:spPr>
          <a:xfrm>
            <a:off x="0" y="0"/>
            <a:ext cx="5336998" cy="6858000"/>
          </a:xfrm>
          <a:prstGeom prst="flowChartDelay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640B3ACD-FF88-40B0-8AD9-B0BC4EB9F40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503141" y="2076426"/>
            <a:ext cx="2243122" cy="2705148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6246253" y="2678805"/>
            <a:ext cx="5808371" cy="831157"/>
          </a:xfrm>
        </p:spPr>
        <p:txBody>
          <a:bodyPr anchor="b">
            <a:normAutofit/>
          </a:bodyPr>
          <a:lstStyle>
            <a:lvl1pPr algn="l">
              <a:defRPr sz="4800">
                <a:solidFill>
                  <a:srgbClr val="003958"/>
                </a:solidFill>
                <a:latin typeface="Impact" panose="020B0806030902050204" pitchFamily="34" charset="0"/>
              </a:defRPr>
            </a:lvl1pPr>
          </a:lstStyle>
          <a:p>
            <a:r>
              <a:rPr lang="pt-BR" dirty="0"/>
              <a:t>Título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5522658" y="4845969"/>
            <a:ext cx="6553229" cy="476226"/>
          </a:xfrm>
        </p:spPr>
        <p:txBody>
          <a:bodyPr>
            <a:normAutofit/>
          </a:bodyPr>
          <a:lstStyle>
            <a:lvl1pPr marL="0" indent="0" algn="r">
              <a:buNone/>
              <a:defRPr sz="4000">
                <a:solidFill>
                  <a:srgbClr val="003958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Professor</a:t>
            </a:r>
          </a:p>
        </p:txBody>
      </p:sp>
    </p:spTree>
    <p:extLst>
      <p:ext uri="{BB962C8B-B14F-4D97-AF65-F5344CB8AC3E}">
        <p14:creationId xmlns:p14="http://schemas.microsoft.com/office/powerpoint/2010/main" val="1824420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64050" y="4554895"/>
            <a:ext cx="8762236" cy="2121676"/>
          </a:xfrm>
        </p:spPr>
        <p:txBody>
          <a:bodyPr>
            <a:normAutofit/>
          </a:bodyPr>
          <a:lstStyle>
            <a:lvl1pPr>
              <a:defRPr sz="6000" b="1">
                <a:solidFill>
                  <a:srgbClr val="003958"/>
                </a:solidFill>
                <a:latin typeface="Impact" panose="020B0806030902050204" pitchFamily="34" charset="0"/>
              </a:defRPr>
            </a:lvl1pPr>
          </a:lstStyle>
          <a:p>
            <a:r>
              <a:rPr lang="pt-BR" dirty="0"/>
              <a:t>Assunto</a:t>
            </a:r>
          </a:p>
        </p:txBody>
      </p:sp>
      <p:pic>
        <p:nvPicPr>
          <p:cNvPr id="9" name="Imagem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85265" y="0"/>
            <a:ext cx="5715000" cy="3952875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43950" y="0"/>
            <a:ext cx="34480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960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0566398" y="5892800"/>
            <a:ext cx="1600200" cy="935266"/>
          </a:xfrm>
        </p:spPr>
        <p:txBody>
          <a:bodyPr/>
          <a:lstStyle>
            <a:lvl1pPr>
              <a:defRPr sz="6000">
                <a:solidFill>
                  <a:schemeClr val="bg1"/>
                </a:solidFill>
                <a:latin typeface="Impact" panose="020B0806030902050204" pitchFamily="34" charset="0"/>
              </a:defRPr>
            </a:lvl1pPr>
          </a:lstStyle>
          <a:p>
            <a:fld id="{F4E6BF57-4B4C-490B-A6E3-54A944D4DF67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831850" y="1880057"/>
            <a:ext cx="10356483" cy="4491713"/>
          </a:xfrm>
        </p:spPr>
        <p:txBody>
          <a:bodyPr/>
          <a:lstStyle>
            <a:lvl1pPr marL="0" indent="0">
              <a:buNone/>
              <a:defRPr sz="2400" u="none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Digite aqui</a:t>
            </a:r>
          </a:p>
        </p:txBody>
      </p:sp>
      <p:sp>
        <p:nvSpPr>
          <p:cNvPr id="12" name="Espaço Reservado para Texto 2"/>
          <p:cNvSpPr>
            <a:spLocks noGrp="1"/>
          </p:cNvSpPr>
          <p:nvPr>
            <p:ph type="body" idx="13" hasCustomPrompt="1"/>
          </p:nvPr>
        </p:nvSpPr>
        <p:spPr>
          <a:xfrm>
            <a:off x="831850" y="356058"/>
            <a:ext cx="11200493" cy="1182909"/>
          </a:xfrm>
        </p:spPr>
        <p:txBody>
          <a:bodyPr>
            <a:normAutofit/>
          </a:bodyPr>
          <a:lstStyle>
            <a:lvl1pPr marL="0" indent="0">
              <a:buNone/>
              <a:defRPr sz="4800" u="none">
                <a:solidFill>
                  <a:srgbClr val="003958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2356747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0566398" y="5892800"/>
            <a:ext cx="1600200" cy="935266"/>
          </a:xfrm>
        </p:spPr>
        <p:txBody>
          <a:bodyPr/>
          <a:lstStyle>
            <a:lvl1pPr>
              <a:defRPr sz="6000">
                <a:solidFill>
                  <a:schemeClr val="bg1"/>
                </a:solidFill>
                <a:latin typeface="Impact" panose="020B0806030902050204" pitchFamily="34" charset="0"/>
              </a:defRPr>
            </a:lvl1pPr>
          </a:lstStyle>
          <a:p>
            <a:fld id="{F4E6BF57-4B4C-490B-A6E3-54A944D4DF67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sp>
        <p:nvSpPr>
          <p:cNvPr id="12" name="Espaço Reservado para Texto 2"/>
          <p:cNvSpPr>
            <a:spLocks noGrp="1"/>
          </p:cNvSpPr>
          <p:nvPr>
            <p:ph type="body" idx="13" hasCustomPrompt="1"/>
          </p:nvPr>
        </p:nvSpPr>
        <p:spPr>
          <a:xfrm>
            <a:off x="831850" y="356058"/>
            <a:ext cx="11200493" cy="1182909"/>
          </a:xfrm>
        </p:spPr>
        <p:txBody>
          <a:bodyPr>
            <a:normAutofit/>
          </a:bodyPr>
          <a:lstStyle>
            <a:lvl1pPr marL="0" indent="0">
              <a:buNone/>
              <a:defRPr sz="4800" u="none">
                <a:solidFill>
                  <a:srgbClr val="003958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Título</a:t>
            </a:r>
          </a:p>
        </p:txBody>
      </p:sp>
      <p:sp>
        <p:nvSpPr>
          <p:cNvPr id="9" name="Espaço Reservado para Text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94877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0566398" y="5892800"/>
            <a:ext cx="1600200" cy="935266"/>
          </a:xfrm>
        </p:spPr>
        <p:txBody>
          <a:bodyPr/>
          <a:lstStyle>
            <a:lvl1pPr>
              <a:defRPr sz="6000">
                <a:solidFill>
                  <a:schemeClr val="bg1"/>
                </a:solidFill>
                <a:latin typeface="Impact" panose="020B0806030902050204" pitchFamily="34" charset="0"/>
              </a:defRPr>
            </a:lvl1pPr>
          </a:lstStyle>
          <a:p>
            <a:fld id="{F4E6BF57-4B4C-490B-A6E3-54A944D4DF67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sp>
        <p:nvSpPr>
          <p:cNvPr id="12" name="Espaço Reservado para Texto 2"/>
          <p:cNvSpPr>
            <a:spLocks noGrp="1"/>
          </p:cNvSpPr>
          <p:nvPr>
            <p:ph type="body" idx="13" hasCustomPrompt="1"/>
          </p:nvPr>
        </p:nvSpPr>
        <p:spPr>
          <a:xfrm>
            <a:off x="831850" y="356058"/>
            <a:ext cx="11200493" cy="1182909"/>
          </a:xfrm>
        </p:spPr>
        <p:txBody>
          <a:bodyPr>
            <a:normAutofit/>
          </a:bodyPr>
          <a:lstStyle>
            <a:lvl1pPr marL="0" indent="0">
              <a:buNone/>
              <a:defRPr sz="4800" u="none">
                <a:solidFill>
                  <a:srgbClr val="003958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Título</a:t>
            </a:r>
          </a:p>
        </p:txBody>
      </p:sp>
      <p:sp>
        <p:nvSpPr>
          <p:cNvPr id="9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10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603831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0566398" y="5892800"/>
            <a:ext cx="1600200" cy="935266"/>
          </a:xfrm>
        </p:spPr>
        <p:txBody>
          <a:bodyPr/>
          <a:lstStyle>
            <a:lvl1pPr>
              <a:defRPr sz="6000">
                <a:solidFill>
                  <a:schemeClr val="bg1"/>
                </a:solidFill>
                <a:latin typeface="Impact" panose="020B0806030902050204" pitchFamily="34" charset="0"/>
              </a:defRPr>
            </a:lvl1pPr>
          </a:lstStyle>
          <a:p>
            <a:fld id="{F4E6BF57-4B4C-490B-A6E3-54A944D4DF67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sp>
        <p:nvSpPr>
          <p:cNvPr id="12" name="Espaço Reservado para Texto 2"/>
          <p:cNvSpPr>
            <a:spLocks noGrp="1"/>
          </p:cNvSpPr>
          <p:nvPr>
            <p:ph type="body" idx="13" hasCustomPrompt="1"/>
          </p:nvPr>
        </p:nvSpPr>
        <p:spPr>
          <a:xfrm>
            <a:off x="831850" y="356058"/>
            <a:ext cx="11200493" cy="1182909"/>
          </a:xfrm>
        </p:spPr>
        <p:txBody>
          <a:bodyPr>
            <a:normAutofit/>
          </a:bodyPr>
          <a:lstStyle>
            <a:lvl1pPr marL="0" indent="0">
              <a:buNone/>
              <a:defRPr sz="4800" u="none">
                <a:solidFill>
                  <a:srgbClr val="003958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Título</a:t>
            </a:r>
          </a:p>
        </p:txBody>
      </p:sp>
      <p:sp>
        <p:nvSpPr>
          <p:cNvPr id="9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2612571"/>
            <a:ext cx="5181600" cy="3564392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10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2612571"/>
            <a:ext cx="5181600" cy="3564392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1" name="Espaço Reservado para Texto 2"/>
          <p:cNvSpPr>
            <a:spLocks noGrp="1"/>
          </p:cNvSpPr>
          <p:nvPr>
            <p:ph type="body" idx="14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3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3229635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E6BF57-4B4C-490B-A6E3-54A944D4DF6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635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2" r:id="rId4"/>
    <p:sldLayoutId id="2147483660" r:id="rId5"/>
    <p:sldLayoutId id="2147483661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267516" y="3239914"/>
            <a:ext cx="5808371" cy="831157"/>
          </a:xfrm>
        </p:spPr>
        <p:txBody>
          <a:bodyPr>
            <a:normAutofit fontScale="90000"/>
          </a:bodyPr>
          <a:lstStyle/>
          <a:p>
            <a:r>
              <a:rPr lang="pt-BR" dirty="0">
                <a:latin typeface="Impact"/>
              </a:rPr>
              <a:t>Estatística Aplicada – Aula 15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/>
              <a:t>Prof. Fábio de Bittencourt</a:t>
            </a:r>
          </a:p>
        </p:txBody>
      </p:sp>
    </p:spTree>
    <p:extLst>
      <p:ext uri="{BB962C8B-B14F-4D97-AF65-F5344CB8AC3E}">
        <p14:creationId xmlns:p14="http://schemas.microsoft.com/office/powerpoint/2010/main" val="1766138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7694"/>
    </mc:Choice>
    <mc:Fallback xmlns="">
      <p:transition spd="slow" advTm="97694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D3FC5-6986-330D-82AB-94E426CB8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8FFC78-E2EF-7447-00DF-606150B77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>
                <a:latin typeface="Impact"/>
              </a:rPr>
              <a:t>Trabalho de Extensão</a:t>
            </a:r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850751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106"/>
    </mc:Choice>
    <mc:Fallback xmlns="">
      <p:transition spd="slow" advTm="34106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F1EA3-E380-71FE-DEFE-8DBDFCFED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3E9F31C-3C67-CFE1-D84A-64CA770EF212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 dirty="0"/>
              <a:t>Trabalho de Extensão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23BCCD4D-49FC-EF9E-7536-151959D3C6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b="1" dirty="0">
                <a:solidFill>
                  <a:srgbClr val="003958"/>
                </a:solidFill>
              </a:rPr>
              <a:t>Atenção: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800" b="1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Todos os grupos deverão em encaminhar a pasta com o código fonte final e apresentação até hoje às 11:59;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As apresentações no dia 10/06 serão de no mínimo 12 min e no </a:t>
            </a:r>
            <a:r>
              <a:rPr lang="pt-BR" sz="1800" dirty="0" err="1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máx</a:t>
            </a:r>
            <a:r>
              <a:rPr lang="pt-BR" sz="18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 15 min, preparem seus slides e apresentações para estarem dentro desse intervalo;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Caso o intervalo de apresentação não seja respeitado, haverá penalização na nota;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A apresentação é obrigatória a todos os grupos, caso o grupo não apresente, a nota do trabalho é zerada;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Não custa relembrar mas a nota do trabalho de extensão é composta por: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Nota = 4,0 (Entregas Preliminares) + 3,0 (Entrega Final) + 3,0 (Apresentação)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pt-BR" sz="14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Char char="•"/>
            </a:pP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Char char="•"/>
            </a:pP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lvl="1"/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624693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1385"/>
    </mc:Choice>
    <mc:Fallback xmlns="">
      <p:transition spd="slow" advTm="191385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67F61-F86E-00B8-C1EB-92A22298E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AA834EA-6880-8DE6-F5EB-8BC011BC53B7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 dirty="0"/>
              <a:t>Trabalho de Extensão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956022E0-6925-5C45-1D60-8270D0E893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b="1" dirty="0">
                <a:solidFill>
                  <a:srgbClr val="003958"/>
                </a:solidFill>
              </a:rPr>
              <a:t>O que iremos fazer hoje:</a:t>
            </a:r>
            <a:endParaRPr lang="pt-BR" sz="1800" b="1" dirty="0">
              <a:solidFill>
                <a:srgbClr val="003958"/>
              </a:solidFill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800" b="1" dirty="0">
              <a:solidFill>
                <a:srgbClr val="003958"/>
              </a:solidFill>
              <a:ea typeface="Calibri"/>
              <a:cs typeface="Calibri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pt-BR" sz="1800" dirty="0">
                <a:solidFill>
                  <a:srgbClr val="003958"/>
                </a:solidFill>
              </a:rPr>
              <a:t>Aplicar um dos tipos de estimativa pontual ou intervalar;</a:t>
            </a:r>
          </a:p>
          <a:p>
            <a:pPr marL="800100" lvl="1" indent="-342900">
              <a:buFont typeface="+mj-lt"/>
              <a:buAutoNum type="arabicPeriod"/>
            </a:pPr>
            <a:endParaRPr lang="pt-BR" sz="1800" dirty="0">
              <a:solidFill>
                <a:srgbClr val="003958"/>
              </a:solidFill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pt-BR" sz="18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Fazer a previsão para o seu modelo OLS para um intervalo futuro;</a:t>
            </a:r>
          </a:p>
          <a:p>
            <a:pPr marL="800100" lvl="1" indent="-342900">
              <a:buFont typeface="+mj-lt"/>
              <a:buAutoNum type="arabicPeriod"/>
            </a:pP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pt-BR" sz="18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Montar uma apresentação de slides contendo: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A sua pergunta problema;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A sua trajetória de investigação dos dados;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A sua correlação;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A normalização dos seus dados;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A sua estimativa pontual;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O modelo de previsão;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As previsões futuras;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Lições aprendidas.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pt-BR" sz="14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Char char="•"/>
            </a:pP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Char char="•"/>
            </a:pP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lvl="1"/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8786191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1385"/>
    </mc:Choice>
    <mc:Fallback>
      <p:transition spd="slow" advTm="191385"/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presentação7" id="{59EF884D-FF5E-4FD0-A607-B5C961B47064}" vid="{A602817E-DF85-4F99-8FE9-FF6794F2241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Engenharia da Computação</Template>
  <TotalTime>11929</TotalTime>
  <Words>213</Words>
  <Application>Microsoft Office PowerPoint</Application>
  <PresentationFormat>Widescreen</PresentationFormat>
  <Paragraphs>38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Impact</vt:lpstr>
      <vt:lpstr>Tema do Office</vt:lpstr>
      <vt:lpstr>Estatística Aplicada – Aula 15</vt:lpstr>
      <vt:lpstr>Trabalho de Extensão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Daniel Basilio Marcelo</dc:creator>
  <cp:lastModifiedBy>Fabio Bittencourt</cp:lastModifiedBy>
  <cp:revision>586</cp:revision>
  <dcterms:created xsi:type="dcterms:W3CDTF">2019-02-19T21:17:49Z</dcterms:created>
  <dcterms:modified xsi:type="dcterms:W3CDTF">2026-05-20T23:34:59Z</dcterms:modified>
</cp:coreProperties>
</file>