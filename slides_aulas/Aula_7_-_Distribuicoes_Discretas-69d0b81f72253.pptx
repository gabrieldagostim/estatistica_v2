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58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8781C-1B56-4283-BED3-4B7E8ACEC6E2}" v="535" dt="2026-04-04T06:56:50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62" d="100"/>
          <a:sy n="62" d="100"/>
        </p:scale>
        <p:origin x="77" y="49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Windows Live" clId="Web-{2AF0A566-C3E4-ED3D-F01A-00C85511E102}"/>
    <pc:docChg chg="addSld delSld modSld sldOrd">
      <pc:chgData name="Fabio Bittencourt" userId="9399af9f441dfb25" providerId="Windows Live" clId="Web-{2AF0A566-C3E4-ED3D-F01A-00C85511E102}" dt="2026-04-01T19:21:37.304" v="2357" actId="1076"/>
      <pc:docMkLst>
        <pc:docMk/>
      </pc:docMkLst>
      <pc:sldChg chg="modSp">
        <pc:chgData name="Fabio Bittencourt" userId="9399af9f441dfb25" providerId="Windows Live" clId="Web-{2AF0A566-C3E4-ED3D-F01A-00C85511E102}" dt="2026-04-01T17:34:10.176" v="0" actId="20577"/>
        <pc:sldMkLst>
          <pc:docMk/>
          <pc:sldMk cId="1766138550" sldId="256"/>
        </pc:sldMkLst>
        <pc:spChg chg="mod">
          <ac:chgData name="Fabio Bittencourt" userId="9399af9f441dfb25" providerId="Windows Live" clId="Web-{2AF0A566-C3E4-ED3D-F01A-00C85511E102}" dt="2026-04-01T17:34:10.176" v="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ord">
        <pc:chgData name="Fabio Bittencourt" userId="9399af9f441dfb25" providerId="Windows Live" clId="Web-{2AF0A566-C3E4-ED3D-F01A-00C85511E102}" dt="2026-04-01T17:36:36.429" v="24" actId="20577"/>
        <pc:sldMkLst>
          <pc:docMk/>
          <pc:sldMk cId="850751447" sldId="358"/>
        </pc:sldMkLst>
        <pc:spChg chg="mod">
          <ac:chgData name="Fabio Bittencourt" userId="9399af9f441dfb25" providerId="Windows Live" clId="Web-{2AF0A566-C3E4-ED3D-F01A-00C85511E102}" dt="2026-04-01T17:36:36.429" v="24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modSp add ord replId">
        <pc:chgData name="Fabio Bittencourt" userId="9399af9f441dfb25" providerId="Windows Live" clId="Web-{2AF0A566-C3E4-ED3D-F01A-00C85511E102}" dt="2026-04-01T17:44:09.229" v="568" actId="20577"/>
        <pc:sldMkLst>
          <pc:docMk/>
          <pc:sldMk cId="1606239993" sldId="364"/>
        </pc:sldMkLst>
        <pc:spChg chg="mod">
          <ac:chgData name="Fabio Bittencourt" userId="9399af9f441dfb25" providerId="Windows Live" clId="Web-{2AF0A566-C3E4-ED3D-F01A-00C85511E102}" dt="2026-04-01T17:37:07.476" v="41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Windows Live" clId="Web-{2AF0A566-C3E4-ED3D-F01A-00C85511E102}" dt="2026-04-01T17:44:09.229" v="568" actId="20577"/>
          <ac:spMkLst>
            <pc:docMk/>
            <pc:sldMk cId="1606239993" sldId="364"/>
            <ac:spMk id="6" creationId="{D8124009-02A9-177C-3F54-950A3298EB93}"/>
          </ac:spMkLst>
        </pc:spChg>
      </pc:sldChg>
    </pc:docChg>
  </pc:docChgLst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4-04T07:00:25.948" v="14417" actId="20577"/>
      <pc:docMkLst>
        <pc:docMk/>
      </pc:docMkLst>
      <pc:sldChg chg="modSp add del mod">
        <pc:chgData name="Fabio Bittencourt" userId="9399af9f441dfb25" providerId="LiveId" clId="{87FEEC51-4A4D-4000-AFF7-19B075429E2B}" dt="2026-04-01T23:58:47.815" v="5517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4-01T23:58:47.815" v="5517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 ord">
        <pc:chgData name="Fabio Bittencourt" userId="9399af9f441dfb25" providerId="LiveId" clId="{87FEEC51-4A4D-4000-AFF7-19B075429E2B}" dt="2026-04-01T23:59:19.363" v="5556" actId="20577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4-01T23:59:19.363" v="5556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modSp mod">
        <pc:chgData name="Fabio Bittencourt" userId="9399af9f441dfb25" providerId="LiveId" clId="{87FEEC51-4A4D-4000-AFF7-19B075429E2B}" dt="2026-04-02T00:15:25.604" v="6367" actId="20577"/>
        <pc:sldMkLst>
          <pc:docMk/>
          <pc:sldMk cId="1606239993" sldId="364"/>
        </pc:sldMkLst>
        <pc:spChg chg="mod">
          <ac:chgData name="Fabio Bittencourt" userId="9399af9f441dfb25" providerId="LiveId" clId="{87FEEC51-4A4D-4000-AFF7-19B075429E2B}" dt="2026-04-02T00:00:09.527" v="5579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LiveId" clId="{87FEEC51-4A4D-4000-AFF7-19B075429E2B}" dt="2026-04-02T00:15:25.604" v="6367" actId="20577"/>
          <ac:spMkLst>
            <pc:docMk/>
            <pc:sldMk cId="1606239993" sldId="364"/>
            <ac:spMk id="6" creationId="{D8124009-02A9-177C-3F54-950A3298EB93}"/>
          </ac:spMkLst>
        </pc:spChg>
      </pc:sldChg>
      <pc:sldChg chg="modSp add mod">
        <pc:chgData name="Fabio Bittencourt" userId="9399af9f441dfb25" providerId="LiveId" clId="{87FEEC51-4A4D-4000-AFF7-19B075429E2B}" dt="2026-04-02T00:26:29.998" v="7173" actId="313"/>
        <pc:sldMkLst>
          <pc:docMk/>
          <pc:sldMk cId="3225874041" sldId="365"/>
        </pc:sldMkLst>
        <pc:spChg chg="mod">
          <ac:chgData name="Fabio Bittencourt" userId="9399af9f441dfb25" providerId="LiveId" clId="{87FEEC51-4A4D-4000-AFF7-19B075429E2B}" dt="2026-04-02T00:26:29.998" v="7173" actId="313"/>
          <ac:spMkLst>
            <pc:docMk/>
            <pc:sldMk cId="3225874041" sldId="365"/>
            <ac:spMk id="6" creationId="{BB93B1D7-E942-64BD-1783-05B82EAE0004}"/>
          </ac:spMkLst>
        </pc:spChg>
      </pc:sldChg>
      <pc:sldChg chg="modSp add mod">
        <pc:chgData name="Fabio Bittencourt" userId="9399af9f441dfb25" providerId="LiveId" clId="{87FEEC51-4A4D-4000-AFF7-19B075429E2B}" dt="2026-04-04T03:13:18.359" v="7790" actId="113"/>
        <pc:sldMkLst>
          <pc:docMk/>
          <pc:sldMk cId="1987650763" sldId="366"/>
        </pc:sldMkLst>
        <pc:spChg chg="mod">
          <ac:chgData name="Fabio Bittencourt" userId="9399af9f441dfb25" providerId="LiveId" clId="{87FEEC51-4A4D-4000-AFF7-19B075429E2B}" dt="2026-04-04T03:13:18.359" v="7790" actId="113"/>
          <ac:spMkLst>
            <pc:docMk/>
            <pc:sldMk cId="1987650763" sldId="366"/>
            <ac:spMk id="6" creationId="{AEC5E847-F5CF-3BA1-05B2-216E7ACDDE67}"/>
          </ac:spMkLst>
        </pc:spChg>
      </pc:sldChg>
      <pc:sldChg chg="modSp add mod">
        <pc:chgData name="Fabio Bittencourt" userId="9399af9f441dfb25" providerId="LiveId" clId="{87FEEC51-4A4D-4000-AFF7-19B075429E2B}" dt="2026-04-04T03:31:45.346" v="9195" actId="20577"/>
        <pc:sldMkLst>
          <pc:docMk/>
          <pc:sldMk cId="3700232467" sldId="367"/>
        </pc:sldMkLst>
        <pc:spChg chg="mod">
          <ac:chgData name="Fabio Bittencourt" userId="9399af9f441dfb25" providerId="LiveId" clId="{87FEEC51-4A4D-4000-AFF7-19B075429E2B}" dt="2026-04-04T03:31:45.346" v="9195" actId="20577"/>
          <ac:spMkLst>
            <pc:docMk/>
            <pc:sldMk cId="3700232467" sldId="367"/>
            <ac:spMk id="6" creationId="{7E48947E-4014-A1A2-04B3-96F513E54354}"/>
          </ac:spMkLst>
        </pc:spChg>
      </pc:sldChg>
      <pc:sldChg chg="modSp add mod">
        <pc:chgData name="Fabio Bittencourt" userId="9399af9f441dfb25" providerId="LiveId" clId="{87FEEC51-4A4D-4000-AFF7-19B075429E2B}" dt="2026-04-04T03:46:28.627" v="9755" actId="20577"/>
        <pc:sldMkLst>
          <pc:docMk/>
          <pc:sldMk cId="624917076" sldId="368"/>
        </pc:sldMkLst>
        <pc:spChg chg="mod">
          <ac:chgData name="Fabio Bittencourt" userId="9399af9f441dfb25" providerId="LiveId" clId="{87FEEC51-4A4D-4000-AFF7-19B075429E2B}" dt="2026-04-04T03:46:28.627" v="9755" actId="20577"/>
          <ac:spMkLst>
            <pc:docMk/>
            <pc:sldMk cId="624917076" sldId="368"/>
            <ac:spMk id="6" creationId="{77DACC21-32CC-AC56-6E76-B5A53E2171FF}"/>
          </ac:spMkLst>
        </pc:spChg>
      </pc:sldChg>
      <pc:sldChg chg="modSp add mod">
        <pc:chgData name="Fabio Bittencourt" userId="9399af9f441dfb25" providerId="LiveId" clId="{87FEEC51-4A4D-4000-AFF7-19B075429E2B}" dt="2026-04-04T03:47:53.444" v="9919" actId="20577"/>
        <pc:sldMkLst>
          <pc:docMk/>
          <pc:sldMk cId="707765808" sldId="369"/>
        </pc:sldMkLst>
        <pc:spChg chg="mod">
          <ac:chgData name="Fabio Bittencourt" userId="9399af9f441dfb25" providerId="LiveId" clId="{87FEEC51-4A4D-4000-AFF7-19B075429E2B}" dt="2026-04-04T03:47:53.444" v="9919" actId="20577"/>
          <ac:spMkLst>
            <pc:docMk/>
            <pc:sldMk cId="707765808" sldId="369"/>
            <ac:spMk id="6" creationId="{4FDDB1FF-B517-9CF7-098D-0F821ED0AA40}"/>
          </ac:spMkLst>
        </pc:spChg>
      </pc:sldChg>
      <pc:sldChg chg="modSp add mod">
        <pc:chgData name="Fabio Bittencourt" userId="9399af9f441dfb25" providerId="LiveId" clId="{87FEEC51-4A4D-4000-AFF7-19B075429E2B}" dt="2026-04-04T04:57:43.607" v="10528" actId="20577"/>
        <pc:sldMkLst>
          <pc:docMk/>
          <pc:sldMk cId="1671104969" sldId="370"/>
        </pc:sldMkLst>
        <pc:spChg chg="mod">
          <ac:chgData name="Fabio Bittencourt" userId="9399af9f441dfb25" providerId="LiveId" clId="{87FEEC51-4A4D-4000-AFF7-19B075429E2B}" dt="2026-04-04T04:57:43.607" v="10528" actId="20577"/>
          <ac:spMkLst>
            <pc:docMk/>
            <pc:sldMk cId="1671104969" sldId="370"/>
            <ac:spMk id="6" creationId="{81DE93E2-C435-809D-76EC-698E2A48F468}"/>
          </ac:spMkLst>
        </pc:spChg>
      </pc:sldChg>
      <pc:sldChg chg="modSp add mod">
        <pc:chgData name="Fabio Bittencourt" userId="9399af9f441dfb25" providerId="LiveId" clId="{87FEEC51-4A4D-4000-AFF7-19B075429E2B}" dt="2026-04-04T05:18:17.516" v="11079" actId="20577"/>
        <pc:sldMkLst>
          <pc:docMk/>
          <pc:sldMk cId="407840775" sldId="371"/>
        </pc:sldMkLst>
        <pc:spChg chg="mod">
          <ac:chgData name="Fabio Bittencourt" userId="9399af9f441dfb25" providerId="LiveId" clId="{87FEEC51-4A4D-4000-AFF7-19B075429E2B}" dt="2026-04-04T05:18:17.516" v="11079" actId="20577"/>
          <ac:spMkLst>
            <pc:docMk/>
            <pc:sldMk cId="407840775" sldId="371"/>
            <ac:spMk id="6" creationId="{C95CCFD1-B088-459C-B70A-ABD19D08795E}"/>
          </ac:spMkLst>
        </pc:spChg>
      </pc:sldChg>
      <pc:sldChg chg="modSp add mod">
        <pc:chgData name="Fabio Bittencourt" userId="9399af9f441dfb25" providerId="LiveId" clId="{87FEEC51-4A4D-4000-AFF7-19B075429E2B}" dt="2026-04-04T05:24:06.389" v="11441" actId="20577"/>
        <pc:sldMkLst>
          <pc:docMk/>
          <pc:sldMk cId="733412145" sldId="372"/>
        </pc:sldMkLst>
        <pc:spChg chg="mod">
          <ac:chgData name="Fabio Bittencourt" userId="9399af9f441dfb25" providerId="LiveId" clId="{87FEEC51-4A4D-4000-AFF7-19B075429E2B}" dt="2026-04-04T05:24:06.389" v="11441" actId="20577"/>
          <ac:spMkLst>
            <pc:docMk/>
            <pc:sldMk cId="733412145" sldId="372"/>
            <ac:spMk id="6" creationId="{559B9180-9434-DE7F-690E-8BF6E494C015}"/>
          </ac:spMkLst>
        </pc:spChg>
      </pc:sldChg>
      <pc:sldChg chg="modSp add mod">
        <pc:chgData name="Fabio Bittencourt" userId="9399af9f441dfb25" providerId="LiveId" clId="{87FEEC51-4A4D-4000-AFF7-19B075429E2B}" dt="2026-04-04T05:38:31.138" v="12022" actId="20577"/>
        <pc:sldMkLst>
          <pc:docMk/>
          <pc:sldMk cId="2731909001" sldId="373"/>
        </pc:sldMkLst>
        <pc:spChg chg="mod">
          <ac:chgData name="Fabio Bittencourt" userId="9399af9f441dfb25" providerId="LiveId" clId="{87FEEC51-4A4D-4000-AFF7-19B075429E2B}" dt="2026-04-04T05:38:31.138" v="12022" actId="20577"/>
          <ac:spMkLst>
            <pc:docMk/>
            <pc:sldMk cId="2731909001" sldId="373"/>
            <ac:spMk id="6" creationId="{A050A466-F1B4-C171-400C-39F630FF67E4}"/>
          </ac:spMkLst>
        </pc:spChg>
      </pc:sldChg>
      <pc:sldChg chg="modSp add mod">
        <pc:chgData name="Fabio Bittencourt" userId="9399af9f441dfb25" providerId="LiveId" clId="{87FEEC51-4A4D-4000-AFF7-19B075429E2B}" dt="2026-04-04T05:50:22.630" v="12431" actId="20577"/>
        <pc:sldMkLst>
          <pc:docMk/>
          <pc:sldMk cId="4052385589" sldId="374"/>
        </pc:sldMkLst>
        <pc:spChg chg="mod">
          <ac:chgData name="Fabio Bittencourt" userId="9399af9f441dfb25" providerId="LiveId" clId="{87FEEC51-4A4D-4000-AFF7-19B075429E2B}" dt="2026-04-04T05:50:22.630" v="12431" actId="20577"/>
          <ac:spMkLst>
            <pc:docMk/>
            <pc:sldMk cId="4052385589" sldId="374"/>
            <ac:spMk id="6" creationId="{465D1E4B-C9F2-129F-267E-DAF9E750F928}"/>
          </ac:spMkLst>
        </pc:spChg>
      </pc:sldChg>
      <pc:sldChg chg="modSp add mod">
        <pc:chgData name="Fabio Bittencourt" userId="9399af9f441dfb25" providerId="LiveId" clId="{87FEEC51-4A4D-4000-AFF7-19B075429E2B}" dt="2026-04-04T06:43:25.895" v="13009" actId="20577"/>
        <pc:sldMkLst>
          <pc:docMk/>
          <pc:sldMk cId="3401918893" sldId="375"/>
        </pc:sldMkLst>
        <pc:spChg chg="mod">
          <ac:chgData name="Fabio Bittencourt" userId="9399af9f441dfb25" providerId="LiveId" clId="{87FEEC51-4A4D-4000-AFF7-19B075429E2B}" dt="2026-04-04T06:43:25.895" v="13009" actId="20577"/>
          <ac:spMkLst>
            <pc:docMk/>
            <pc:sldMk cId="3401918893" sldId="375"/>
            <ac:spMk id="6" creationId="{928FC33A-3760-F151-4BD4-228908F05037}"/>
          </ac:spMkLst>
        </pc:spChg>
      </pc:sldChg>
      <pc:sldChg chg="modSp add mod">
        <pc:chgData name="Fabio Bittencourt" userId="9399af9f441dfb25" providerId="LiveId" clId="{87FEEC51-4A4D-4000-AFF7-19B075429E2B}" dt="2026-04-04T06:45:53.085" v="13327" actId="255"/>
        <pc:sldMkLst>
          <pc:docMk/>
          <pc:sldMk cId="3376788362" sldId="376"/>
        </pc:sldMkLst>
        <pc:spChg chg="mod">
          <ac:chgData name="Fabio Bittencourt" userId="9399af9f441dfb25" providerId="LiveId" clId="{87FEEC51-4A4D-4000-AFF7-19B075429E2B}" dt="2026-04-04T06:45:53.085" v="13327" actId="255"/>
          <ac:spMkLst>
            <pc:docMk/>
            <pc:sldMk cId="3376788362" sldId="376"/>
            <ac:spMk id="6" creationId="{B53AFD9A-2181-932D-818E-EB5DB9A13A02}"/>
          </ac:spMkLst>
        </pc:spChg>
      </pc:sldChg>
      <pc:sldChg chg="modSp add mod">
        <pc:chgData name="Fabio Bittencourt" userId="9399af9f441dfb25" providerId="LiveId" clId="{87FEEC51-4A4D-4000-AFF7-19B075429E2B}" dt="2026-04-04T06:57:13.981" v="13888" actId="255"/>
        <pc:sldMkLst>
          <pc:docMk/>
          <pc:sldMk cId="2474521378" sldId="377"/>
        </pc:sldMkLst>
        <pc:spChg chg="mod">
          <ac:chgData name="Fabio Bittencourt" userId="9399af9f441dfb25" providerId="LiveId" clId="{87FEEC51-4A4D-4000-AFF7-19B075429E2B}" dt="2026-04-04T06:57:13.981" v="13888" actId="255"/>
          <ac:spMkLst>
            <pc:docMk/>
            <pc:sldMk cId="2474521378" sldId="377"/>
            <ac:spMk id="6" creationId="{BF2F4BC0-48B4-2BA1-3C07-1DE4D4C53A13}"/>
          </ac:spMkLst>
        </pc:spChg>
      </pc:sldChg>
      <pc:sldChg chg="modSp add mod">
        <pc:chgData name="Fabio Bittencourt" userId="9399af9f441dfb25" providerId="LiveId" clId="{87FEEC51-4A4D-4000-AFF7-19B075429E2B}" dt="2026-04-04T07:00:25.948" v="14417" actId="20577"/>
        <pc:sldMkLst>
          <pc:docMk/>
          <pc:sldMk cId="1838604557" sldId="378"/>
        </pc:sldMkLst>
        <pc:spChg chg="mod">
          <ac:chgData name="Fabio Bittencourt" userId="9399af9f441dfb25" providerId="LiveId" clId="{87FEEC51-4A4D-4000-AFF7-19B075429E2B}" dt="2026-04-04T07:00:25.948" v="14417" actId="20577"/>
          <ac:spMkLst>
            <pc:docMk/>
            <pc:sldMk cId="1838604557" sldId="378"/>
            <ac:spMk id="6" creationId="{8DEA8DCA-001A-8AE0-1B32-DD03AEF30100}"/>
          </ac:spMkLst>
        </pc:spChg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</pc:docChg>
  </pc:docChgLst>
  <pc:docChgLst>
    <pc:chgData name="Fabio Bittencourt" userId="9399af9f441dfb25" providerId="Windows Live" clId="Web-{929FFA45-AD16-8426-4576-15CAB10173A6}"/>
    <pc:docChg chg="modSld">
      <pc:chgData name="Fabio Bittencourt" userId="9399af9f441dfb25" providerId="Windows Live" clId="Web-{929FFA45-AD16-8426-4576-15CAB10173A6}" dt="2026-04-02T16:56:02.753" v="3" actId="20577"/>
      <pc:docMkLst>
        <pc:docMk/>
      </pc:docMkLst>
      <pc:sldChg chg="modSp">
        <pc:chgData name="Fabio Bittencourt" userId="9399af9f441dfb25" providerId="Windows Live" clId="Web-{929FFA45-AD16-8426-4576-15CAB10173A6}" dt="2026-04-02T16:56:02.753" v="3" actId="20577"/>
        <pc:sldMkLst>
          <pc:docMk/>
          <pc:sldMk cId="1987650763" sldId="366"/>
        </pc:sldMkLst>
        <pc:spChg chg="mod">
          <ac:chgData name="Fabio Bittencourt" userId="9399af9f441dfb25" providerId="Windows Live" clId="Web-{929FFA45-AD16-8426-4576-15CAB10173A6}" dt="2026-04-02T16:56:02.753" v="3" actId="20577"/>
          <ac:spMkLst>
            <pc:docMk/>
            <pc:sldMk cId="1987650763" sldId="366"/>
            <ac:spMk id="6" creationId="{AEC5E847-F5CF-3BA1-05B2-216E7ACDDE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7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Distribuições Discretas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991C-31B7-25F5-64E6-42975334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36ECE1-321E-8DF3-5D06-B719C29C0F6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8124009-02A9-177C-3F54-950A3298E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Ainda estamos nos campos das probabilidades e sempre quando estamos trabalhando com base de dados é normal que à elas seja dado o nome de distribuição, e entre hoje e semana que vem iremos verificar o que estatisticamente é entendido por: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Distribuição Discreta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Distribuição Contínua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aula de hoje, como vocês já perceberam, será dedicada a primeira parte, que na verdade já vimos algumas delas, como o caso da moeda é uma distribuição discreta, assim como o caso do dado;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Pois, distribuições discretas são aquelas que a soma de todas as probabilidade seja 1.</a:t>
            </a: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0623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0A12-D046-944D-96D6-C3832C65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9DE9FC-27DF-5B0E-A587-6FF58BBD270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B93B1D7-E942-64BD-1783-05B82EAE0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O modelo visto nas nossas primeiras aulas de probabilidade é chama de probabilidade </a:t>
            </a:r>
            <a:r>
              <a:rPr lang="pt-BR" sz="2000" b="1" dirty="0">
                <a:solidFill>
                  <a:srgbClr val="003958"/>
                </a:solidFill>
              </a:rPr>
              <a:t>uniforme discreta</a:t>
            </a:r>
            <a:r>
              <a:rPr lang="pt-BR" sz="2000" dirty="0">
                <a:solidFill>
                  <a:srgbClr val="003958"/>
                </a:solidFill>
              </a:rPr>
              <a:t>, que é aquela em que uma variável X pode assumir N valores distintos, onde cada valor é igualmente provável.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Então nesse caso vimos que a forma de cálculo é P(K) = 1/N;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vimos que podemos aplicar isso para calcular a probabilidade de um número sair em um dado, de ser sorteado os números da mega sena e etc...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Porém, agora, imaginem o seguinte caso, onde a possibilidade de um evento acontecer é maior que a outra por um fator natural, por experiência ou simplesmente uma arbitrariedade.</a:t>
            </a: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587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A2CE-1AC0-44F3-DBAA-A38248EC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60F3B8-C950-65A9-021D-82F03489371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AEC5E847-F5CF-3BA1-05B2-216E7ACDDE6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Então a próxima forma de probabilidade em distribuição discreta é a de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Bernoulli</a:t>
                </a:r>
                <a:r>
                  <a:rPr lang="pt-BR" sz="2000" dirty="0">
                    <a:solidFill>
                      <a:srgbClr val="003958"/>
                    </a:solidFill>
                  </a:rPr>
                  <a:t>, que é uma forma em que a probabilidade é definida simplesmente pela inversão das chances: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 err="1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P(</a:t>
                </a:r>
                <a:r>
                  <a:rPr lang="pt-BR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X = 1) = p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P(X = 0) = 1 – p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Se pegarmos esse tipo de distribuição e aplicarmos diversas vezes em ensaios independentes, temos mais uma forma de probabilidade em distribuição discreta, a </a:t>
                </a:r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Binomial</a:t>
                </a: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da pela fórmula abaixo: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lvl="1" algn="ctr"/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𝒏</m:t>
                          </m:r>
                        </m:e>
                      </m:m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𝒑</m:t>
                        </m:r>
                      </m:e>
                      <m:sup>
                        <m: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𝒌</m:t>
                        </m:r>
                      </m:sup>
                    </m:sSup>
                    <m:sSup>
                      <m:sSupPr>
                        <m:ctrlP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(1-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𝒏</m:t>
                        </m:r>
                        <m: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k = 0,1,...,n</a:t>
                </a: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AEC5E847-F5CF-3BA1-05B2-216E7ACDD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65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8C5C-1DDC-E07A-4D6C-3EDC8850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F384D6-E9B5-EEB6-02EF-1C2A9C8B169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E48947E-4014-A1A2-04B3-96F513E54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Umas das aplicações da distribuição discreta binomial poderia ser identificar o seguinte caso: </a:t>
            </a:r>
          </a:p>
          <a:p>
            <a:pPr algn="ctr"/>
            <a:r>
              <a:rPr lang="pt-BR" sz="2000" dirty="0">
                <a:solidFill>
                  <a:srgbClr val="003958"/>
                </a:solidFill>
              </a:rPr>
              <a:t>“</a:t>
            </a:r>
            <a:r>
              <a:rPr lang="pt-BR" sz="2000" b="1" dirty="0">
                <a:solidFill>
                  <a:srgbClr val="003958"/>
                </a:solidFill>
              </a:rPr>
              <a:t>Com uma moeda honesta vamos jogá-la pra cima cinco vezes, qual a probabilidade de se obter 3 caras?</a:t>
            </a:r>
            <a:r>
              <a:rPr lang="pt-BR" sz="2000" dirty="0">
                <a:solidFill>
                  <a:srgbClr val="003958"/>
                </a:solidFill>
              </a:rPr>
              <a:t>”</a:t>
            </a:r>
          </a:p>
          <a:p>
            <a:pPr algn="ctr"/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Já fizemos um cálculo parecido, mas naquele modelo sempre fizemos uma definição, todas os sorteios tinham que dar o resultado que a gente queria, agora, não necessariamente;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Vamos começar o cálculo então, primeiramente destrinchando o problema com as informações que o contexto nos dá: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N = 5 (número de tentativas)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K = 3 (número de caras que se deseja obter)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P = 0,5 (probabilidade, já que a moeda é honesta)</a:t>
            </a:r>
            <a:endParaRPr lang="pt-BR" b="1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0232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F375-6D23-05A1-5C23-799DECA7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410780-DDE7-C3D7-CD6A-49FBB3AE431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77DACC21-32CC-AC56-6E76-B5A53E2171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O primeiro passo então é substituir a fórmula com os valores, que ficaria assim: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sz="8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3)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b="1" i="1" smtClean="0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𝟓</m:t>
                          </m:r>
                        </m:e>
                      </m:m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𝟑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𝟎</m:t>
                        </m:r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,</m:t>
                        </m:r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</m:e>
                      <m:sup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pt-BR" b="1" i="0" dirty="0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0,5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  <m: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</m:sup>
                    </m:sSup>
                    <m:r>
                      <a:rPr lang="pt-BR" b="1" i="1" smtClean="0">
                        <a:solidFill>
                          <a:srgbClr val="003958"/>
                        </a:solidFill>
                        <a:ea typeface="Calibri" panose="020F0502020204030204"/>
                        <a:cs typeface="Calibri" panose="020F0502020204030204"/>
                      </a:rPr>
                      <m:t>= </m:t>
                    </m:r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b="1" i="1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𝟓</m:t>
                          </m:r>
                        </m:e>
                      </m:mr>
                      <m:mr>
                        <m:e>
                          <m:r>
                            <a:rPr lang="pt-BR" b="1" i="1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𝟑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𝟎</m:t>
                        </m:r>
                        <m: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,</m:t>
                        </m:r>
                        <m: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</m:e>
                      <m:sup>
                        <m: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pt-BR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0,5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b="1" i="1" dirty="0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</m:sup>
                    </m:sSup>
                  </m:oMath>
                </a14:m>
                <a:endParaRPr lang="pt-BR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E aí nós temos esse binômio, na fórmula, que talvez vocês não lembram como resolver, então esse de fato é o próximo passo.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000" b="1" i="1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𝟓</m:t>
                          </m:r>
                        </m:e>
                      </m:mr>
                      <m:mr>
                        <m:e>
                          <m:r>
                            <a:rPr lang="pt-BR" sz="2000" b="1" i="1">
                              <a:solidFill>
                                <a:srgbClr val="003958"/>
                              </a:solidFill>
                              <a:ea typeface="Calibri" panose="020F0502020204030204"/>
                              <a:cs typeface="Calibri" panose="020F0502020204030204"/>
                            </a:rPr>
                            <m:t>𝟑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!</m:t>
                        </m:r>
                      </m:num>
                      <m:den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!(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)!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!</m:t>
                        </m:r>
                      </m:num>
                      <m:den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! . 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 !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𝟓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𝟒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</m:t>
                        </m:r>
                      </m:num>
                      <m:den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(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) .  (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.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𝟏𝟐𝟎</m:t>
                        </m:r>
                      </m:num>
                      <m:den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𝟔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 . 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𝟐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𝟏𝟐𝟎</m:t>
                        </m:r>
                      </m:num>
                      <m:den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</a:rPr>
                  <a:t> = 10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Passado esse ponto, o resto da conta, nós sabemos fazer, 0,5 elevado ao quadrado é 0,25 e elevado ao cubo é 0,125 e o resultado basta multiplicar esses três números.</a:t>
                </a: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77DACC21-32CC-AC56-6E76-B5A53E217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17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B4D4-C74F-5E8E-35F3-CF3CB028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2770CD-5E6C-31A6-B45C-8D86CD540D5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FDDB1FF-B517-9CF7-098D-0F821ED0A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O primeiro passo então é substituir a fórmula com os valores, que ficaria assim: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8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 (X = 3) = 10 * 0,125 * 0,25 = 0,3125 = 31,25%</a:t>
            </a: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Portanto, a chance de se jogar uma moeda honesta e se obter 3 caras é de 31,25%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Agora calculem o número de clientes satisfeitos em uma amostra de 100 pessoas, considerando que cada cliente tem uma chance de 70% de dizer que está satisfeito, qual a chance de 80 responderem que estão satisfeitos.</a:t>
            </a:r>
            <a:endParaRPr lang="pt-BR" b="1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07765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7943-FC76-7D03-4341-4277B8C3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61A5FC-F147-3DF7-4A89-39E355B8F44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81DE93E2-C435-809D-76EC-698E2A48F4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próxima probabilidade em distribuição discreta é a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Geométrica</a:t>
                </a:r>
                <a:r>
                  <a:rPr lang="pt-BR" sz="2000" dirty="0">
                    <a:solidFill>
                      <a:srgbClr val="003958"/>
                    </a:solidFill>
                  </a:rPr>
                  <a:t>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sua construção também parte da base de Bernoulli, mas nessa forma iremos buscar uma probabilidade de um evento acontecer em uma determinada tentativa.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fórmula dessa vez é um pouco mais simples, mostrada abaixo: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sz="2000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𝒌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</m:t>
                        </m:r>
                      </m:sup>
                    </m:sSup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𝒑</m:t>
                    </m:r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k = 1, 2,...,n</a:t>
                </a: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Um exemplo que podemos sugerir é a de um vendedor de telemarketing que liga para muitos clientes ao longo do dia, em que ligação ele conseguirá a sua primeira venda?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81DE93E2-C435-809D-76EC-698E2A48F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104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2665-D7EA-1367-14CA-9E5E4936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5A611-09E3-9EB8-82F0-19986BAFD69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C95CCFD1-B088-459C-B70A-ABD19D08795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Para responder a pergunta do slide anterior, nos faltam duas questões, a probabilidade, que aqui iremos utilizar como probabilidade de 5%;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Já a outra questão é indicar qual a ligação que queremos sugerir que a venda aconteça, então vamos mudar a nossa pergunta problema para: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</a:rPr>
                  <a:t>Qual é a probabilidade de que a primeira venda ocorra exatamente na quarta ligação?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Agora sim, podemos substituir os valores na fórmula: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</a:endParaRPr>
              </a:p>
              <a:p>
                <a:pPr algn="ctr"/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4)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pt-BR" b="1" i="0" dirty="0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0,05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𝟒</m:t>
                        </m:r>
                        <m: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𝟏</m:t>
                        </m:r>
                      </m:sup>
                    </m:sSup>
                    <m:r>
                      <a:rPr lang="pt-BR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</m:t>
                    </m:r>
                    <m:r>
                      <a:rPr lang="pt-BR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,</m:t>
                    </m:r>
                    <m:r>
                      <a:rPr lang="pt-BR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𝟎𝟓</m:t>
                    </m:r>
                  </m:oMath>
                </a14:m>
                <a:endParaRPr lang="pt-BR" dirty="0">
                  <a:solidFill>
                    <a:srgbClr val="003958"/>
                  </a:solidFill>
                </a:endParaRPr>
              </a:p>
              <a:p>
                <a:endParaRPr lang="pt-BR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C95CCFD1-B088-459C-B70A-ABD19D0879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40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3419-A307-AEED-F4C8-C881DAA9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5FAA7E-8E5E-DB19-9B9D-F50151FD801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559B9180-9434-DE7F-690E-8BF6E494C01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Resolvendo ela, portanto, temos o seguinte cenário:</a:t>
                </a:r>
              </a:p>
              <a:p>
                <a:pPr algn="ctr"/>
                <a:endParaRPr lang="pt-BR" sz="2000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4)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sz="2000" b="1" i="0" dirty="0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0,9</m:t>
                        </m:r>
                        <m:r>
                          <m:rPr>
                            <m:nor/>
                          </m:rPr>
                          <a:rPr lang="pt-BR" sz="2000" b="1" i="0" dirty="0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sz="2000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𝟑</m:t>
                        </m:r>
                        <m:r>
                          <a:rPr lang="pt-BR" sz="2000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 </m:t>
                        </m:r>
                      </m:sup>
                    </m:sSup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∗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,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𝟎𝟓</m:t>
                    </m:r>
                  </m:oMath>
                </a14:m>
                <a:endParaRPr lang="pt-BR" sz="2000" dirty="0">
                  <a:solidFill>
                    <a:srgbClr val="003958"/>
                  </a:solidFill>
                </a:endParaRP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4) = </a:t>
                </a:r>
                <a14:m>
                  <m:oMath xmlns:m="http://schemas.openxmlformats.org/officeDocument/2006/math"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,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𝟖𝟓𝟕𝟑𝟕𝟓</m:t>
                    </m:r>
                    <m:r>
                      <a:rPr lang="pt-BR" sz="2000" b="1" i="1" dirty="0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 ∗ </m:t>
                    </m:r>
                    <m:r>
                      <a:rPr lang="pt-BR" sz="2000" b="1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</m:t>
                    </m:r>
                    <m:r>
                      <a:rPr lang="pt-BR" sz="2000" b="1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,</m:t>
                    </m:r>
                    <m:r>
                      <a:rPr lang="pt-BR" sz="2000" b="1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𝟎𝟓</m:t>
                    </m:r>
                  </m:oMath>
                </a14:m>
                <a:endParaRPr lang="pt-BR" sz="2000" dirty="0">
                  <a:solidFill>
                    <a:srgbClr val="003958"/>
                  </a:solidFill>
                </a:endParaRP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4) = </a:t>
                </a:r>
                <a14:m>
                  <m:oMath xmlns:m="http://schemas.openxmlformats.org/officeDocument/2006/math">
                    <m:r>
                      <a:rPr lang="pt-BR" sz="2000" b="1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</m:t>
                    </m:r>
                    <m:r>
                      <a:rPr lang="pt-BR" sz="2000" b="1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,</m:t>
                    </m:r>
                    <m:r>
                      <a:rPr lang="pt-BR" sz="2000" b="1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𝟎𝟒𝟐𝟗</m:t>
                    </m:r>
                  </m:oMath>
                </a14:m>
                <a:endParaRPr lang="pt-BR" sz="2000" dirty="0">
                  <a:solidFill>
                    <a:srgbClr val="003958"/>
                  </a:solidFill>
                </a:endParaRPr>
              </a:p>
              <a:p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Portanto, considerando que você tenha 5% de chance de fechar uma venda em uma ligação, a chance de você vender na quarta venda é de 4,3% aproximadamente;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Vamos para o código </a:t>
                </a:r>
                <a:r>
                  <a:rPr lang="pt-BR" sz="2000" dirty="0" err="1">
                    <a:solidFill>
                      <a:srgbClr val="003958"/>
                    </a:solidFill>
                  </a:rPr>
                  <a:t>python</a:t>
                </a:r>
                <a:r>
                  <a:rPr lang="pt-BR" sz="2000" dirty="0">
                    <a:solidFill>
                      <a:srgbClr val="003958"/>
                    </a:solidFill>
                  </a:rPr>
                  <a:t> então.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559B9180-9434-DE7F-690E-8BF6E494C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412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488A-9456-8E41-5B9D-4D5E4F24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971E4E-907B-0371-7C72-F2219342445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A050A466-F1B4-C171-400C-39F630FF67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próxima distribuição é a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Pascal</a:t>
                </a:r>
                <a:r>
                  <a:rPr lang="pt-BR" sz="2000" dirty="0">
                    <a:solidFill>
                      <a:srgbClr val="003958"/>
                    </a:solidFill>
                  </a:rPr>
                  <a:t> (binomial negativa), que permite calcular a quantidade de n  sucessos em tentativas;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sua principal diferença para o cálculo anterior, é que na distribuição geométrica iremos calcular quando irá acontecer o primeiro sucesso, já na distribuição de Pascal, podemos calcular quando irá acontecer o décimo quinto sucesso, o décimo oitavo, etc...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Porém, para isso, a sua fórmula acaba sendo mais complexa:</a:t>
                </a: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𝟏</m:t>
                          </m:r>
                        </m:e>
                      </m:m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𝒓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𝟏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𝒑</m:t>
                        </m:r>
                      </m:e>
                      <m:sup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𝒓</m:t>
                        </m:r>
                      </m:sup>
                    </m:sSup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sz="2000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𝒌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k = r, r+1,...,</a:t>
                </a:r>
                <a:r>
                  <a:rPr lang="pt-BR" sz="2000" b="1" dirty="0" err="1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r+n</a:t>
                </a:r>
                <a:endParaRPr lang="pt-BR" sz="2000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A050A466-F1B4-C171-400C-39F630FF6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909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2ABC-B78C-DFF7-D0B2-5D4F6193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8658AE-2A3F-761E-2FC3-A542567A868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465D1E4B-C9F2-129F-267E-DAF9E750F9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Porém, para isso, a sua fórmula acaba sendo mais complexa:</a:t>
                </a: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𝟏</m:t>
                          </m:r>
                        </m:e>
                      </m:m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𝒓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𝟏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𝒑</m:t>
                        </m:r>
                      </m:e>
                      <m:sup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𝒓</m:t>
                        </m:r>
                      </m:sup>
                    </m:sSup>
                    <m:sSup>
                      <m:sSupPr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pt-BR" sz="2000" b="1" dirty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)</m:t>
                        </m:r>
                      </m:e>
                      <m:sup>
                        <m:r>
                          <a:rPr lang="pt-BR" sz="2000" b="1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𝒌</m:t>
                        </m:r>
                        <m: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−</m:t>
                        </m:r>
                        <m:r>
                          <a:rPr lang="pt-BR" sz="2000" b="1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k = r, r+1,...,</a:t>
                </a:r>
                <a:r>
                  <a:rPr lang="pt-BR" sz="2000" b="1" dirty="0" err="1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r+n</a:t>
                </a:r>
                <a:endParaRPr lang="pt-BR" sz="2000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Sendo que: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</a:rPr>
                  <a:t>P = Probabilidade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</a:rPr>
                  <a:t>K = Tentativas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</a:rPr>
                  <a:t>R = Sucessos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r>
                  <a:rPr lang="pt-BR" sz="22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Como vimos, aqui também temos binômios e então, aqui iremos direto para o código para resolver o problema exemplo: “Qual a probabilidade de em 50 ligações eu conseguir 3ª vendas, sendo que a chance de eu conseguir uma venda é 5%”.</a:t>
                </a: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465D1E4B-C9F2-129F-267E-DAF9E750F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47" t="-1357" b="-25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385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4DA4-23E8-8770-9ABF-CB32E0B3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EFEE86-8D2F-85DB-E534-2768BC73EC5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928FC33A-3760-F151-4BD4-228908F0503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nossa próxima distribuição é a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hipergeométrica</a:t>
                </a:r>
                <a:r>
                  <a:rPr lang="pt-BR" sz="2000" dirty="0">
                    <a:solidFill>
                      <a:srgbClr val="003958"/>
                    </a:solidFill>
                  </a:rPr>
                  <a:t>, que é aquela que modela um número de sucessos em uma amostra sem reposição, como por exemplo em sorteios numéricos.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Imaginem o seguinte exemplo: “Em um lote de 1000 peças tem 50 defeituosas, imagine então retirar 50 para inspeção sem devolução e calcular a probabilidade de encontrar exatamente 3 defeituosas?”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2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Bom, para calcular isso, temos uma fórmula cheia de binômios, destacada abaixo:</a:t>
                </a:r>
              </a:p>
              <a:p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algn="ctr"/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𝑲</m:t>
                          </m:r>
                        </m:e>
                      </m:m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𝑵</m:t>
                          </m:r>
                          <m:r>
                            <a:rPr lang="pt-BR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𝑲</m:t>
                          </m:r>
                        </m:e>
                      </m:m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𝒏</m:t>
                          </m:r>
                          <m:r>
                            <a:rPr lang="pt-BR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/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𝑵</m:t>
                          </m:r>
                          <m:r>
                            <a:rPr lang="pt-BR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</m:t>
                          </m:r>
                        </m:e>
                      </m:mr>
                      <m:mr>
                        <m:e>
                          <m:r>
                            <a:rPr lang="pt-BR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𝒏</m:t>
                          </m:r>
                        </m:e>
                      </m:mr>
                    </m:m>
                  </m:oMath>
                </a14:m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</a:t>
                </a: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928FC33A-3760-F151-4BD4-228908F05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47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18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1A8F-67AE-A439-17C9-A7465FC7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4D9A76-658D-A6AA-7BB4-AC68217D539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B53AFD9A-2181-932D-818E-EB5DB9A13A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Bom, para calcular isso, temos uma fórmula cheia de binômios, destacada abaixo:</a:t>
                </a:r>
              </a:p>
              <a:p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algn="ctr"/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(X = k) =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𝑲</m:t>
                          </m:r>
                        </m:e>
                      </m:m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𝑵</m:t>
                          </m:r>
                          <m:r>
                            <a:rPr lang="pt-BR" sz="2000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𝑲</m:t>
                          </m:r>
                        </m:e>
                      </m:m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𝒏</m:t>
                          </m:r>
                          <m:r>
                            <a:rPr lang="pt-BR" sz="2000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−</m:t>
                          </m:r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𝒌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 / (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000" b="1" i="1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𝑵</m:t>
                          </m:r>
                          <m:r>
                            <a:rPr lang="pt-BR" sz="2000" b="1" i="1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 </m:t>
                          </m:r>
                        </m:e>
                      </m:mr>
                      <m:mr>
                        <m:e>
                          <m:r>
                            <a:rPr lang="pt-BR" sz="2000" b="1" i="1" smtClean="0">
                              <a:solidFill>
                                <a:srgbClr val="003958"/>
                              </a:solidFill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</a:rPr>
                            <m:t>𝒏</m:t>
                          </m:r>
                        </m:e>
                      </m:mr>
                    </m:m>
                  </m:oMath>
                </a14:m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)</a:t>
                </a:r>
              </a:p>
              <a:p>
                <a:pPr algn="ctr"/>
                <a:endParaRPr lang="pt-BR" sz="2000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Nesse cenário cada “letra” significa: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N: população total;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K: número de “sucessos”;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n: tamanho da amostra;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k: número de sucessos da amostra.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b="1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Vamos então ao </a:t>
                </a:r>
                <a:r>
                  <a:rPr lang="pt-BR" sz="2000" dirty="0" err="1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python</a:t>
                </a: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 ver como resolver aquele problema do slide anterior.</a:t>
                </a: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B53AFD9A-2181-932D-818E-EB5DB9A13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89" t="-1357" b="-43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78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3FA8-3C9B-0B53-9ED2-1B02B7E4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9F2144-A0F0-FE08-EC04-E8AF4B07E11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BF2F4BC0-48B4-2BA1-3C07-1DE4D4C53A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E para finalizar as distribuições do dia, veremos agora como calcular o número de ocorrências de um evento raro em um intervalo de tempo ou espaço, uma vez que vocês já conhece um valor médio daquele fenômeno;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Esse cálculo de distribuição discreta é chamado de </a:t>
                </a:r>
                <a:r>
                  <a:rPr lang="pt-BR" sz="2000" b="1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Poisson</a:t>
                </a: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, cuja a fórmula é descrita abaixo:</a:t>
                </a:r>
              </a:p>
              <a:p>
                <a:pPr algn="ctr"/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 ( X = k 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b="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  <m:t>λ</m:t>
                            </m:r>
                          </m:sup>
                        </m:sSup>
                        <m:sSup>
                          <m:sSupPr>
                            <m:ctrlPr>
                              <a:rPr lang="el-GR" sz="200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000" i="1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  <m:t>λ</m:t>
                            </m:r>
                          </m:e>
                          <m:sup>
                            <m:r>
                              <a:rPr lang="pt-BR" sz="2000" b="0" i="1" smtClean="0">
                                <a:solidFill>
                                  <a:srgbClr val="003958"/>
                                </a:solidFill>
                                <a:ea typeface="Calibri" panose="020F0502020204030204"/>
                                <a:cs typeface="Calibri" panose="020F0502020204030204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𝑘</m:t>
                        </m:r>
                        <m:r>
                          <a:rPr lang="pt-BR" sz="2000" b="0" i="1" smtClean="0">
                            <a:solidFill>
                              <a:srgbClr val="003958"/>
                            </a:solidFill>
                            <a:ea typeface="Calibri" panose="020F0502020204030204"/>
                            <a:cs typeface="Calibri" panose="020F0502020204030204"/>
                          </a:rPr>
                          <m:t>!</m:t>
                        </m:r>
                      </m:den>
                    </m:f>
                  </m:oMath>
                </a14:m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 k = 0, 1, 2, ...</a:t>
                </a:r>
              </a:p>
              <a:p>
                <a:pPr algn="ctr"/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Onde: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λ</m:t>
                    </m:r>
                    <m:r>
                      <a:rPr lang="pt-BR" b="0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 −</m:t>
                    </m:r>
                    <m:r>
                      <a:rPr lang="pt-BR" b="0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𝑀</m:t>
                    </m:r>
                    <m:r>
                      <a:rPr lang="pt-BR" b="0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é</m:t>
                    </m:r>
                    <m:r>
                      <a:rPr lang="pt-BR" b="0" i="1" smtClean="0">
                        <a:solidFill>
                          <a:srgbClr val="003958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𝑑𝑖𝑎</m:t>
                    </m:r>
                  </m:oMath>
                </a14:m>
                <a:r>
                  <a:rPr lang="pt-BR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	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K - Ocorrências</a:t>
                </a:r>
              </a:p>
              <a:p>
                <a:pPr lvl="1"/>
                <a:endParaRPr lang="pt-BR" sz="16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BF2F4BC0-48B4-2BA1-3C07-1DE4D4C53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521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8341-3C1F-54A2-AD9D-95871BC0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6124BF-AF7E-4DA3-7E45-9B698D5AAE9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Discretas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DEA8DCA-001A-8AE0-1B32-DD03AEF30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para o nosso último exemplo então, imaginem que em um sinal passem em média 100 carros por hora, qual a probabilidade de se passar 200 carros por hora?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para o código, mas levem todos os exemplos para o seu imaginário, quais desses cálculos é possíveis de serem aplicados dentro dos seus trabalhos de extensão?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Iremos fazer isso em breve, então já tenham essa carta </a:t>
            </a: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na manga.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8604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11687</TotalTime>
  <Words>1491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Impact</vt:lpstr>
      <vt:lpstr>Tema do Office</vt:lpstr>
      <vt:lpstr>Estatística Aplicada – Aula 7</vt:lpstr>
      <vt:lpstr>Distribuições Discretas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586</cp:revision>
  <dcterms:created xsi:type="dcterms:W3CDTF">2019-02-19T21:17:49Z</dcterms:created>
  <dcterms:modified xsi:type="dcterms:W3CDTF">2026-04-04T07:00:36Z</dcterms:modified>
</cp:coreProperties>
</file>